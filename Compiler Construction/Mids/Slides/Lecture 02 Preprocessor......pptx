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 id="2147483756" r:id="rId10"/>
  </p:sldMasterIdLst>
  <p:notesMasterIdLst>
    <p:notesMasterId r:id="rId27"/>
  </p:notesMasterIdLst>
  <p:handoutMasterIdLst>
    <p:handoutMasterId r:id="rId28"/>
  </p:handoutMasterIdLst>
  <p:sldIdLst>
    <p:sldId id="333" r:id="rId11"/>
    <p:sldId id="334" r:id="rId12"/>
    <p:sldId id="335" r:id="rId13"/>
    <p:sldId id="327" r:id="rId14"/>
    <p:sldId id="339" r:id="rId15"/>
    <p:sldId id="347" r:id="rId16"/>
    <p:sldId id="349" r:id="rId17"/>
    <p:sldId id="340" r:id="rId18"/>
    <p:sldId id="341" r:id="rId19"/>
    <p:sldId id="342" r:id="rId20"/>
    <p:sldId id="350" r:id="rId21"/>
    <p:sldId id="343" r:id="rId22"/>
    <p:sldId id="344" r:id="rId23"/>
    <p:sldId id="345" r:id="rId24"/>
    <p:sldId id="346" r:id="rId25"/>
    <p:sldId id="338" r:id="rId2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snapToGrid="0" snapToObjects="1">
      <p:cViewPr varScale="1">
        <p:scale>
          <a:sx n="68" d="100"/>
          <a:sy n="68" d="100"/>
        </p:scale>
        <p:origin x="1440" y="7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7/13/2026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7/13/2026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9DC1E3-3C06-49E0-A248-4FB1E4E47BDD}"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CB4F38C2-4548-F541-8261-4C1D96E7A166}"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8.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7.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8.sv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7.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8.svg"/><Relationship Id="rId2" Type="http://schemas.openxmlformats.org/officeDocument/2006/relationships/slideLayout" Target="../slideLayouts/slideLayout35.xml"/><Relationship Id="rId16" Type="http://schemas.openxmlformats.org/officeDocument/2006/relationships/image" Target="../media/image4.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7.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8.svg"/><Relationship Id="rId2" Type="http://schemas.openxmlformats.org/officeDocument/2006/relationships/slideLayout" Target="../slideLayouts/slideLayout46.xml"/><Relationship Id="rId16" Type="http://schemas.openxmlformats.org/officeDocument/2006/relationships/image" Target="../media/image4.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7.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17" Type="http://schemas.openxmlformats.org/officeDocument/2006/relationships/image" Target="../media/image8.svg"/><Relationship Id="rId2" Type="http://schemas.openxmlformats.org/officeDocument/2006/relationships/slideLayout" Target="../slideLayouts/slideLayout57.xml"/><Relationship Id="rId16" Type="http://schemas.openxmlformats.org/officeDocument/2006/relationships/image" Target="../media/image4.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7.sv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17" Type="http://schemas.openxmlformats.org/officeDocument/2006/relationships/image" Target="../media/image8.svg"/><Relationship Id="rId2" Type="http://schemas.openxmlformats.org/officeDocument/2006/relationships/slideLayout" Target="../slideLayouts/slideLayout68.xml"/><Relationship Id="rId16" Type="http://schemas.openxmlformats.org/officeDocument/2006/relationships/image" Target="../media/image4.pn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7.sv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17" Type="http://schemas.openxmlformats.org/officeDocument/2006/relationships/image" Target="../media/image8.svg"/><Relationship Id="rId2" Type="http://schemas.openxmlformats.org/officeDocument/2006/relationships/slideLayout" Target="../slideLayouts/slideLayout79.xml"/><Relationship Id="rId16" Type="http://schemas.openxmlformats.org/officeDocument/2006/relationships/image" Target="../media/image4.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7.sv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17" Type="http://schemas.openxmlformats.org/officeDocument/2006/relationships/image" Target="../media/image8.svg"/><Relationship Id="rId2" Type="http://schemas.openxmlformats.org/officeDocument/2006/relationships/slideLayout" Target="../slideLayouts/slideLayout90.xml"/><Relationship Id="rId16" Type="http://schemas.openxmlformats.org/officeDocument/2006/relationships/image" Target="../media/image4.png"/><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7.sv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GB" sz="4000" dirty="0">
                <a:solidFill>
                  <a:schemeClr val="bg1"/>
                </a:solidFill>
                <a:latin typeface="Times New Roman" panose="02020603050405020304" pitchFamily="18" charset="0"/>
                <a:cs typeface="Times New Roman" panose="02020603050405020304" pitchFamily="18" charset="0"/>
              </a:rPr>
              <a:t>BSCS-7</a:t>
            </a:r>
            <a:r>
              <a:rPr lang="en-GB" sz="4000" baseline="30000" dirty="0">
                <a:solidFill>
                  <a:schemeClr val="bg1"/>
                </a:solidFill>
                <a:latin typeface="Times New Roman" panose="02020603050405020304" pitchFamily="18" charset="0"/>
                <a:cs typeface="Times New Roman" panose="02020603050405020304" pitchFamily="18" charset="0"/>
              </a:rPr>
              <a:t>th</a:t>
            </a:r>
            <a:r>
              <a:rPr lang="en-GB" sz="4000" dirty="0">
                <a:solidFill>
                  <a:schemeClr val="bg1"/>
                </a:solidFill>
                <a:latin typeface="Times New Roman" panose="02020603050405020304" pitchFamily="18" charset="0"/>
                <a:cs typeface="Times New Roman" panose="02020603050405020304" pitchFamily="18" charset="0"/>
              </a:rPr>
              <a:t> Semester</a:t>
            </a:r>
            <a:endParaRPr lang="en-US" sz="4000" dirty="0">
              <a:solidFill>
                <a:schemeClr val="bg1"/>
              </a:solidFill>
            </a:endParaRPr>
          </a:p>
        </p:txBody>
      </p:sp>
      <p:sp>
        <p:nvSpPr>
          <p:cNvPr id="3" name="Subtitle 2"/>
          <p:cNvSpPr>
            <a:spLocks noGrp="1"/>
          </p:cNvSpPr>
          <p:nvPr>
            <p:ph type="subTitle" idx="1"/>
          </p:nvPr>
        </p:nvSpPr>
        <p:spPr>
          <a:xfrm>
            <a:off x="1391233" y="2510119"/>
            <a:ext cx="6716268" cy="3181229"/>
          </a:xfrm>
        </p:spPr>
        <p:txBody>
          <a:bodyPr>
            <a:noAutofit/>
          </a:bodyPr>
          <a:lstStyle/>
          <a:p>
            <a:r>
              <a:rPr lang="en-GB" sz="2800" b="1" dirty="0">
                <a:solidFill>
                  <a:schemeClr val="bg1"/>
                </a:solidFill>
                <a:latin typeface="Garamond" panose="02020404030301010803" pitchFamily="18" charset="0"/>
              </a:rPr>
              <a:t>			</a:t>
            </a:r>
          </a:p>
          <a:p>
            <a:pPr algn="r"/>
            <a:endParaRPr lang="en-GB" sz="28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M. </a:t>
            </a:r>
            <a:r>
              <a:rPr lang="en-GB" sz="2400" b="1">
                <a:solidFill>
                  <a:schemeClr val="bg1"/>
                </a:solidFill>
                <a:latin typeface="Garamond" panose="02020404030301010803" pitchFamily="18" charset="0"/>
              </a:rPr>
              <a:t>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2728" y="0"/>
            <a:ext cx="2708768" cy="36116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Rectangle 3"/>
          <p:cNvSpPr/>
          <p:nvPr/>
        </p:nvSpPr>
        <p:spPr>
          <a:xfrm>
            <a:off x="0" y="0"/>
            <a:ext cx="9144000" cy="68727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5" name="Title 1"/>
          <p:cNvSpPr>
            <a:spLocks noGrp="1"/>
          </p:cNvSpPr>
          <p:nvPr/>
        </p:nvSpPr>
        <p:spPr>
          <a:xfrm>
            <a:off x="0" y="1268195"/>
            <a:ext cx="9144000" cy="1752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600" dirty="0">
                <a:solidFill>
                  <a:schemeClr val="bg1"/>
                </a:solidFill>
                <a:latin typeface="Arial Black" panose="020B0A04020102020204" pitchFamily="34" charset="0"/>
              </a:rPr>
              <a:t>Compiler Construction</a:t>
            </a:r>
          </a:p>
        </p:txBody>
      </p:sp>
      <p:sp>
        <p:nvSpPr>
          <p:cNvPr id="6" name="Rectangle 5"/>
          <p:cNvSpPr/>
          <p:nvPr/>
        </p:nvSpPr>
        <p:spPr>
          <a:xfrm>
            <a:off x="3430692" y="4394682"/>
            <a:ext cx="2595880" cy="645160"/>
          </a:xfrm>
          <a:prstGeom prst="rect">
            <a:avLst/>
          </a:prstGeom>
        </p:spPr>
        <p:txBody>
          <a:bodyPr wrap="none">
            <a:spAutoFit/>
          </a:bodyPr>
          <a:lstStyle/>
          <a:p>
            <a:r>
              <a:rPr lang="en-US" sz="3600" b="1" dirty="0">
                <a:solidFill>
                  <a:schemeClr val="bg1"/>
                </a:solidFill>
              </a:rPr>
              <a:t>Lecture 02 </a:t>
            </a:r>
          </a:p>
        </p:txBody>
      </p:sp>
      <p:sp>
        <p:nvSpPr>
          <p:cNvPr id="7" name="Rectangle 6"/>
          <p:cNvSpPr/>
          <p:nvPr/>
        </p:nvSpPr>
        <p:spPr>
          <a:xfrm>
            <a:off x="2948574" y="3444517"/>
            <a:ext cx="3246851" cy="523220"/>
          </a:xfrm>
          <a:prstGeom prst="rect">
            <a:avLst/>
          </a:prstGeom>
        </p:spPr>
        <p:txBody>
          <a:bodyPr wrap="none">
            <a:spAutoFit/>
          </a:bodyPr>
          <a:lstStyle/>
          <a:p>
            <a:r>
              <a:rPr lang="en-US" sz="2800" b="1" dirty="0">
                <a:solidFill>
                  <a:schemeClr val="bg1"/>
                </a:solidFill>
              </a:rPr>
              <a:t>Course Code: CS-411</a:t>
            </a:r>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8100" y="0"/>
            <a:ext cx="9288300" cy="1115736"/>
            <a:chOff x="0" y="0"/>
            <a:chExt cx="12324746" cy="1115736"/>
          </a:xfrm>
        </p:grpSpPr>
        <p:sp>
          <p:nvSpPr>
            <p:cNvPr id="5" name="Rectangle 4"/>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10"/>
            <p:cNvSpPr txBox="1"/>
            <p:nvPr/>
          </p:nvSpPr>
          <p:spPr>
            <a:xfrm>
              <a:off x="10212027" y="677208"/>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8" name="Graphic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1489" y="350125"/>
              <a:ext cx="261610" cy="261610"/>
            </a:xfrm>
            <a:prstGeom prst="rect">
              <a:avLst/>
            </a:prstGeom>
          </p:spPr>
        </p:pic>
        <p:sp>
          <p:nvSpPr>
            <p:cNvPr id="9" name="TextBox 12"/>
            <p:cNvSpPr txBox="1"/>
            <p:nvPr/>
          </p:nvSpPr>
          <p:spPr>
            <a:xfrm>
              <a:off x="9718342" y="242403"/>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0" name="Graphic 1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09986" y="703941"/>
              <a:ext cx="171450" cy="171450"/>
            </a:xfrm>
            <a:prstGeom prst="rect">
              <a:avLst/>
            </a:prstGeom>
          </p:spPr>
        </p:pic>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15926" y="703941"/>
              <a:ext cx="171452" cy="171451"/>
            </a:xfrm>
            <a:prstGeom prst="rect">
              <a:avLst/>
            </a:prstGeom>
          </p:spPr>
        </p:pic>
      </p:grpSp>
      <p:sp>
        <p:nvSpPr>
          <p:cNvPr id="13" name="Content Placeholder 2"/>
          <p:cNvSpPr txBox="1"/>
          <p:nvPr/>
        </p:nvSpPr>
        <p:spPr>
          <a:xfrm>
            <a:off x="152400" y="2209800"/>
            <a:ext cx="8839200"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b="1" dirty="0"/>
              <a:t>Credit Hours: </a:t>
            </a:r>
            <a:r>
              <a:rPr lang="en-US" b="1" dirty="0">
                <a:solidFill>
                  <a:srgbClr val="FF0000"/>
                </a:solidFill>
              </a:rPr>
              <a:t>3(3-0)</a:t>
            </a:r>
          </a:p>
          <a:p>
            <a:endParaRPr lang="en-US" b="1" dirty="0">
              <a:solidFill>
                <a:srgbClr val="FF0000"/>
              </a:solidFill>
            </a:endParaRPr>
          </a:p>
          <a:p>
            <a:pPr marL="0" indent="0" algn="ctr">
              <a:buFont typeface="Arial" panose="020B0604020202020204" pitchFamily="34" charset="0"/>
              <a:buNone/>
            </a:pPr>
            <a:r>
              <a:rPr lang="en-US" b="1" dirty="0"/>
              <a:t>Theory: </a:t>
            </a:r>
            <a:r>
              <a:rPr lang="en-US" b="1" dirty="0">
                <a:solidFill>
                  <a:srgbClr val="FF0000"/>
                </a:solidFill>
              </a:rPr>
              <a:t>Cr. Hr. 03</a:t>
            </a:r>
          </a:p>
          <a:p>
            <a:pPr marL="0" indent="0" algn="ctr">
              <a:buFont typeface="Arial" panose="020B0604020202020204" pitchFamily="34" charset="0"/>
              <a:buNone/>
            </a:pPr>
            <a:r>
              <a:rPr lang="en-US" b="1" dirty="0"/>
              <a:t>Practical: </a:t>
            </a:r>
            <a:r>
              <a:rPr lang="en-US" b="1" dirty="0">
                <a:solidFill>
                  <a:srgbClr val="FF0000"/>
                </a:solidFill>
              </a:rPr>
              <a:t>Cr. Hr. 00</a:t>
            </a:r>
            <a:endParaRPr 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fade">
                                      <p:cBhvr>
                                        <p:cTn id="12" dur="500"/>
                                        <p:tgtEl>
                                          <p:spTgt spid="1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fade">
                                      <p:cBhvr>
                                        <p:cTn id="17"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sz="3600" dirty="0">
                <a:solidFill>
                  <a:schemeClr val="bg1"/>
                </a:solidFill>
              </a:rPr>
              <a:t>Content </a:t>
            </a:r>
          </a:p>
        </p:txBody>
      </p:sp>
      <p:sp>
        <p:nvSpPr>
          <p:cNvPr id="3" name="Content Placeholder 2"/>
          <p:cNvSpPr>
            <a:spLocks noGrp="1"/>
          </p:cNvSpPr>
          <p:nvPr>
            <p:ph idx="1"/>
          </p:nvPr>
        </p:nvSpPr>
        <p:spPr>
          <a:xfrm>
            <a:off x="457200" y="1497965"/>
            <a:ext cx="8229600" cy="5121275"/>
          </a:xfrm>
        </p:spPr>
        <p:txBody>
          <a:bodyPr/>
          <a:lstStyle/>
          <a:p>
            <a:pPr algn="just"/>
            <a:r>
              <a:rPr lang="en-US" altLang="en-US" sz="3200" dirty="0">
                <a:solidFill>
                  <a:schemeClr val="tx1"/>
                </a:solidFill>
                <a:latin typeface="Times New Roman" panose="02020603050405020304" pitchFamily="18" charset="0"/>
                <a:cs typeface="Times New Roman" panose="02020603050405020304" pitchFamily="18" charset="0"/>
              </a:rPr>
              <a:t>Preprocessor</a:t>
            </a:r>
          </a:p>
          <a:p>
            <a:pPr algn="just"/>
            <a:r>
              <a:rPr lang="en-US" altLang="en-US" sz="3200" dirty="0">
                <a:solidFill>
                  <a:schemeClr val="tx1"/>
                </a:solidFill>
                <a:latin typeface="Times New Roman" panose="02020603050405020304" pitchFamily="18" charset="0"/>
                <a:cs typeface="Times New Roman" panose="02020603050405020304" pitchFamily="18" charset="0"/>
              </a:rPr>
              <a:t>Compiler</a:t>
            </a:r>
          </a:p>
          <a:p>
            <a:pPr algn="just"/>
            <a:r>
              <a:rPr lang="en-US" altLang="en-US" sz="3200" dirty="0">
                <a:solidFill>
                  <a:schemeClr val="tx1"/>
                </a:solidFill>
                <a:latin typeface="Times New Roman" panose="02020603050405020304" pitchFamily="18" charset="0"/>
                <a:cs typeface="Times New Roman" panose="02020603050405020304" pitchFamily="18" charset="0"/>
              </a:rPr>
              <a:t>Assembler</a:t>
            </a:r>
          </a:p>
          <a:p>
            <a:pPr algn="just"/>
            <a:r>
              <a:rPr lang="en-US" altLang="en-US" sz="3200" dirty="0">
                <a:solidFill>
                  <a:schemeClr val="tx1"/>
                </a:solidFill>
                <a:latin typeface="Times New Roman" panose="02020603050405020304" pitchFamily="18" charset="0"/>
                <a:cs typeface="Times New Roman" panose="02020603050405020304" pitchFamily="18" charset="0"/>
              </a:rPr>
              <a:t>Interpreter</a:t>
            </a:r>
          </a:p>
          <a:p>
            <a:pPr algn="just"/>
            <a:r>
              <a:rPr lang="en-US" altLang="en-US" sz="3200" dirty="0">
                <a:solidFill>
                  <a:schemeClr val="tx1"/>
                </a:solidFill>
                <a:latin typeface="Times New Roman" panose="02020603050405020304" pitchFamily="18" charset="0"/>
                <a:cs typeface="Times New Roman" panose="02020603050405020304" pitchFamily="18" charset="0"/>
              </a:rPr>
              <a:t>Loader and Link-editor</a:t>
            </a:r>
          </a:p>
          <a:p>
            <a:pPr algn="just"/>
            <a:r>
              <a:rPr lang="en-US" altLang="en-US" sz="3200" dirty="0">
                <a:solidFill>
                  <a:schemeClr val="tx1"/>
                </a:solidFill>
                <a:latin typeface="Times New Roman" panose="02020603050405020304" pitchFamily="18" charset="0"/>
                <a:cs typeface="Times New Roman" panose="02020603050405020304" pitchFamily="18" charset="0"/>
              </a:rPr>
              <a:t>Translator</a:t>
            </a:r>
          </a:p>
          <a:p>
            <a:pPr algn="just"/>
            <a:r>
              <a:rPr lang="en-US" altLang="en-US" sz="3200" dirty="0">
                <a:solidFill>
                  <a:schemeClr val="tx1"/>
                </a:solidFill>
                <a:latin typeface="Times New Roman" panose="02020603050405020304" pitchFamily="18" charset="0"/>
                <a:cs typeface="Times New Roman" panose="02020603050405020304" pitchFamily="18" charset="0"/>
              </a:rPr>
              <a:t>Type of Translators</a:t>
            </a:r>
          </a:p>
          <a:p>
            <a:pPr algn="just"/>
            <a:r>
              <a:rPr lang="en-US" altLang="en-US" sz="3200" dirty="0">
                <a:solidFill>
                  <a:schemeClr val="tx1"/>
                </a:solidFill>
                <a:latin typeface="Times New Roman" panose="02020603050405020304" pitchFamily="18" charset="0"/>
                <a:cs typeface="Times New Roman" panose="02020603050405020304" pitchFamily="18" charset="0"/>
              </a:rPr>
              <a:t>List of Compilers</a:t>
            </a:r>
          </a:p>
        </p:txBody>
      </p:sp>
      <p:sp>
        <p:nvSpPr>
          <p:cNvPr id="9" name="Slide Number Placeholder 8"/>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Preprocessor</a:t>
            </a:r>
          </a:p>
        </p:txBody>
      </p:sp>
      <p:sp>
        <p:nvSpPr>
          <p:cNvPr id="3" name="Content Placeholder 2"/>
          <p:cNvSpPr>
            <a:spLocks noGrp="1"/>
          </p:cNvSpPr>
          <p:nvPr>
            <p:ph idx="1"/>
          </p:nvPr>
        </p:nvSpPr>
        <p:spPr>
          <a:xfrm>
            <a:off x="457200" y="1351915"/>
            <a:ext cx="8229600" cy="5121275"/>
          </a:xfrm>
        </p:spPr>
        <p:txBody>
          <a:bodyPr/>
          <a:lstStyle/>
          <a:p>
            <a:pPr algn="just"/>
            <a:r>
              <a:rPr lang="en-US" altLang="en-US" sz="2800" b="1" dirty="0">
                <a:solidFill>
                  <a:srgbClr val="C00000"/>
                </a:solidFill>
                <a:latin typeface="Times New Roman" panose="02020603050405020304" pitchFamily="18" charset="0"/>
                <a:cs typeface="Times New Roman" panose="02020603050405020304" pitchFamily="18" charset="0"/>
              </a:rPr>
              <a:t>Preprocessors</a:t>
            </a:r>
            <a:r>
              <a:rPr lang="en-US" altLang="en-US" sz="2800" b="1" dirty="0">
                <a:solidFill>
                  <a:srgbClr val="FF0000"/>
                </a:solidFill>
                <a:latin typeface="Times New Roman" panose="02020603050405020304" pitchFamily="18" charset="0"/>
                <a:cs typeface="Times New Roman" panose="02020603050405020304" pitchFamily="18" charset="0"/>
              </a:rPr>
              <a:t> </a:t>
            </a:r>
            <a:r>
              <a:rPr lang="en-US" altLang="en-US" sz="2800" dirty="0">
                <a:solidFill>
                  <a:schemeClr val="tx1"/>
                </a:solidFill>
                <a:latin typeface="Times New Roman" panose="02020603050405020304" pitchFamily="18" charset="0"/>
                <a:cs typeface="Times New Roman" panose="02020603050405020304" pitchFamily="18" charset="0"/>
              </a:rPr>
              <a:t>are programs that </a:t>
            </a:r>
            <a:r>
              <a:rPr lang="en-US" altLang="en-US" sz="2800" dirty="0">
                <a:solidFill>
                  <a:schemeClr val="tx2"/>
                </a:solidFill>
                <a:latin typeface="Times New Roman" panose="02020603050405020304" pitchFamily="18" charset="0"/>
                <a:cs typeface="Times New Roman" panose="02020603050405020304" pitchFamily="18" charset="0"/>
              </a:rPr>
              <a:t>process the source code before the actual compilation begins</a:t>
            </a:r>
            <a:r>
              <a:rPr lang="en-US" altLang="en-US" sz="2800" dirty="0">
                <a:solidFill>
                  <a:schemeClr val="tx1"/>
                </a:solidFill>
                <a:latin typeface="Times New Roman" panose="02020603050405020304" pitchFamily="18" charset="0"/>
                <a:cs typeface="Times New Roman" panose="02020603050405020304" pitchFamily="18" charset="0"/>
              </a:rPr>
              <a:t>. They are </a:t>
            </a:r>
            <a:r>
              <a:rPr lang="en-US" altLang="en-US" sz="2800" dirty="0">
                <a:solidFill>
                  <a:srgbClr val="FF0000"/>
                </a:solidFill>
                <a:latin typeface="Times New Roman" panose="02020603050405020304" pitchFamily="18" charset="0"/>
                <a:cs typeface="Times New Roman" panose="02020603050405020304" pitchFamily="18" charset="0"/>
              </a:rPr>
              <a:t>not part of the compilation process</a:t>
            </a:r>
            <a:r>
              <a:rPr lang="en-US" altLang="en-US" sz="2800" dirty="0">
                <a:solidFill>
                  <a:schemeClr val="tx1"/>
                </a:solidFill>
                <a:latin typeface="Times New Roman" panose="02020603050405020304" pitchFamily="18" charset="0"/>
                <a:cs typeface="Times New Roman" panose="02020603050405020304" pitchFamily="18" charset="0"/>
              </a:rPr>
              <a:t> but </a:t>
            </a:r>
            <a:r>
              <a:rPr lang="en-US" altLang="en-US" sz="2800" dirty="0">
                <a:solidFill>
                  <a:schemeClr val="accent6">
                    <a:lumMod val="75000"/>
                  </a:schemeClr>
                </a:solidFill>
                <a:latin typeface="Times New Roman" panose="02020603050405020304" pitchFamily="18" charset="0"/>
                <a:cs typeface="Times New Roman" panose="02020603050405020304" pitchFamily="18" charset="0"/>
              </a:rPr>
              <a:t>operate separately</a:t>
            </a:r>
            <a:r>
              <a:rPr lang="en-US" altLang="en-US" sz="2800" dirty="0">
                <a:solidFill>
                  <a:schemeClr val="tx1"/>
                </a:solidFill>
                <a:latin typeface="Times New Roman" panose="02020603050405020304" pitchFamily="18" charset="0"/>
                <a:cs typeface="Times New Roman" panose="02020603050405020304" pitchFamily="18" charset="0"/>
              </a:rPr>
              <a:t>, allowing programmers to modify the code before compilation.</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The pre-processor removes all the #include directives by including the files called file inclusion and all the #define directives using macro expansion.</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For example: Let in the source program, it is written #include "Stdio. h". Pre-Processor replaces this file with its contents in the produced output.</a:t>
            </a:r>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Preprocessor</a:t>
            </a:r>
          </a:p>
        </p:txBody>
      </p:sp>
      <p:pic>
        <p:nvPicPr>
          <p:cNvPr id="4" name="Content Placeholder 3" descr="1"/>
          <p:cNvPicPr>
            <a:picLocks noGrp="1" noChangeAspect="1"/>
          </p:cNvPicPr>
          <p:nvPr>
            <p:ph idx="1"/>
          </p:nvPr>
        </p:nvPicPr>
        <p:blipFill>
          <a:blip r:embed="rId2"/>
          <a:stretch>
            <a:fillRect/>
          </a:stretch>
        </p:blipFill>
        <p:spPr>
          <a:xfrm>
            <a:off x="2233295" y="1922145"/>
            <a:ext cx="4676775" cy="4476750"/>
          </a:xfrm>
          <a:prstGeom prst="rect">
            <a:avLst/>
          </a:prstGeom>
        </p:spPr>
      </p:pic>
      <p:sp>
        <p:nvSpPr>
          <p:cNvPr id="9" name="Slide Number Placeholder 8"/>
          <p:cNvSpPr>
            <a:spLocks noGrp="1"/>
          </p:cNvSpPr>
          <p:nvPr>
            <p:ph type="sldNum" sz="quarter" idx="12"/>
          </p:nvPr>
        </p:nvSpPr>
        <p:spPr/>
        <p:txBody>
          <a:bodyPr/>
          <a:lstStyle/>
          <a:p>
            <a:fld id="{1D5CD492-2BC6-F348-9965-EC1D86DF57A8}" type="slidenum">
              <a:rPr lang="en-US" smtClean="0"/>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Compiler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A </a:t>
            </a:r>
            <a:r>
              <a:rPr lang="en-US" altLang="en-US" sz="2800" b="1" dirty="0">
                <a:solidFill>
                  <a:srgbClr val="C00000"/>
                </a:solidFill>
                <a:latin typeface="Times New Roman" panose="02020603050405020304" pitchFamily="18" charset="0"/>
                <a:cs typeface="Times New Roman" panose="02020603050405020304" pitchFamily="18" charset="0"/>
              </a:rPr>
              <a:t>compiler</a:t>
            </a:r>
            <a:r>
              <a:rPr lang="en-US" altLang="en-US" sz="2800" dirty="0">
                <a:solidFill>
                  <a:schemeClr val="tx1"/>
                </a:solidFill>
                <a:latin typeface="Times New Roman" panose="02020603050405020304" pitchFamily="18" charset="0"/>
                <a:cs typeface="Times New Roman" panose="02020603050405020304" pitchFamily="18" charset="0"/>
              </a:rPr>
              <a:t> is software that translates or converts a program written in a high-level language (Source Language) into a low-level language (Machine Language or Assembly Language).</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Compiler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b="1" dirty="0">
                <a:solidFill>
                  <a:srgbClr val="C00000"/>
                </a:solidFill>
                <a:latin typeface="Times New Roman" panose="02020603050405020304" pitchFamily="18" charset="0"/>
                <a:cs typeface="Times New Roman" panose="02020603050405020304" pitchFamily="18" charset="0"/>
              </a:rPr>
              <a:t>Operations of Compilers</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These are some operations that are done by the compiler.</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Breaks source programs into smaller parts.</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Enables the creation of symbol tables and intermediate representations.</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Helps in Error Detection.</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Saves all codes and variables.</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Analyses the full program and translates it.</a:t>
            </a:r>
          </a:p>
          <a:p>
            <a:pPr lvl="1" algn="just"/>
            <a:r>
              <a:rPr lang="en-US" altLang="en-US" sz="2400" dirty="0">
                <a:solidFill>
                  <a:schemeClr val="tx1"/>
                </a:solidFill>
                <a:latin typeface="Times New Roman" panose="02020603050405020304" pitchFamily="18" charset="0"/>
                <a:cs typeface="Times New Roman" panose="02020603050405020304" pitchFamily="18" charset="0"/>
              </a:rPr>
              <a:t>Convert source code to machine code.</a:t>
            </a:r>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Assembler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An </a:t>
            </a:r>
            <a:r>
              <a:rPr lang="en-US" altLang="en-US" sz="2800" b="1" dirty="0">
                <a:solidFill>
                  <a:srgbClr val="C00000"/>
                </a:solidFill>
                <a:latin typeface="Times New Roman" panose="02020603050405020304" pitchFamily="18" charset="0"/>
                <a:cs typeface="Times New Roman" panose="02020603050405020304" pitchFamily="18" charset="0"/>
              </a:rPr>
              <a:t>Assembler</a:t>
            </a:r>
            <a:r>
              <a:rPr lang="en-US" altLang="en-US" sz="2800" dirty="0">
                <a:solidFill>
                  <a:schemeClr val="tx1"/>
                </a:solidFill>
                <a:latin typeface="Times New Roman" panose="02020603050405020304" pitchFamily="18" charset="0"/>
                <a:cs typeface="Times New Roman" panose="02020603050405020304" pitchFamily="18" charset="0"/>
              </a:rPr>
              <a:t> can be defined as a program that translates an assembly language program into a machine language program.</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pic>
        <p:nvPicPr>
          <p:cNvPr id="4" name="Picture 3" descr="3"/>
          <p:cNvPicPr>
            <a:picLocks noChangeAspect="1"/>
          </p:cNvPicPr>
          <p:nvPr/>
        </p:nvPicPr>
        <p:blipFill>
          <a:blip r:embed="rId2"/>
          <a:stretch>
            <a:fillRect/>
          </a:stretch>
        </p:blipFill>
        <p:spPr>
          <a:xfrm>
            <a:off x="328930" y="3565525"/>
            <a:ext cx="8484235" cy="2275840"/>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Interpreter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All high-level languages need to be converted to machine code so that the computer can understand the program after taking the required inputs. The software by which the </a:t>
            </a:r>
            <a:r>
              <a:rPr lang="en-US" altLang="en-US" sz="2800" dirty="0">
                <a:solidFill>
                  <a:srgbClr val="FF0000"/>
                </a:solidFill>
                <a:latin typeface="Times New Roman" panose="02020603050405020304" pitchFamily="18" charset="0"/>
                <a:cs typeface="Times New Roman" panose="02020603050405020304" pitchFamily="18" charset="0"/>
              </a:rPr>
              <a:t>conversion of the high-level instructions is performed line-by-line to machine-level language, other than compiler and assembler, is known as INTERPRETER</a:t>
            </a:r>
            <a:r>
              <a:rPr lang="en-US" altLang="en-US" sz="2800" dirty="0">
                <a:solidFill>
                  <a:schemeClr val="tx1"/>
                </a:solidFill>
                <a:latin typeface="Times New Roman" panose="02020603050405020304" pitchFamily="18" charset="0"/>
                <a:cs typeface="Times New Roman" panose="02020603050405020304" pitchFamily="18" charset="0"/>
              </a:rPr>
              <a:t>. </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Interpreter</a:t>
            </a:r>
          </a:p>
        </p:txBody>
      </p:sp>
      <p:pic>
        <p:nvPicPr>
          <p:cNvPr id="4" name="Content Placeholder 3" descr="4"/>
          <p:cNvPicPr>
            <a:picLocks noGrp="1" noChangeAspect="1"/>
          </p:cNvPicPr>
          <p:nvPr>
            <p:ph idx="1"/>
          </p:nvPr>
        </p:nvPicPr>
        <p:blipFill>
          <a:blip r:embed="rId2"/>
          <a:stretch>
            <a:fillRect/>
          </a:stretch>
        </p:blipFill>
        <p:spPr>
          <a:xfrm>
            <a:off x="233680" y="2635250"/>
            <a:ext cx="8613775" cy="2188210"/>
          </a:xfrm>
          <a:prstGeom prst="rect">
            <a:avLst/>
          </a:prstGeom>
        </p:spPr>
      </p:pic>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Loader and Link-editor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The basic work of a </a:t>
            </a:r>
            <a:r>
              <a:rPr lang="en-US" altLang="en-US" sz="2800" b="1" dirty="0">
                <a:solidFill>
                  <a:srgbClr val="C00000"/>
                </a:solidFill>
                <a:latin typeface="Times New Roman" panose="02020603050405020304" pitchFamily="18" charset="0"/>
                <a:cs typeface="Times New Roman" panose="02020603050405020304" pitchFamily="18" charset="0"/>
              </a:rPr>
              <a:t>linker</a:t>
            </a:r>
            <a:r>
              <a:rPr lang="en-US" altLang="en-US" sz="2800" dirty="0">
                <a:solidFill>
                  <a:schemeClr val="tx1"/>
                </a:solidFill>
                <a:latin typeface="Times New Roman" panose="02020603050405020304" pitchFamily="18" charset="0"/>
                <a:cs typeface="Times New Roman" panose="02020603050405020304" pitchFamily="18" charset="0"/>
              </a:rPr>
              <a:t> is to merge object codes (that have not even been connected), produced by the compiler, assembler, standard library function, and operating system resources.</a:t>
            </a:r>
          </a:p>
          <a:p>
            <a:pPr algn="just"/>
            <a:r>
              <a:rPr lang="en-US" altLang="en-US" sz="2800" dirty="0">
                <a:solidFill>
                  <a:schemeClr val="tx1"/>
                </a:solidFill>
                <a:latin typeface="Times New Roman" panose="02020603050405020304" pitchFamily="18" charset="0"/>
                <a:cs typeface="Times New Roman" panose="02020603050405020304" pitchFamily="18" charset="0"/>
              </a:rPr>
              <a:t>The codes generated by the compiler, assembler, and linker are generally re-located by their nature, which means to say, the starting location of these codes is not determined, which means they can be anywhere in the computer memory. Thus the basic task of </a:t>
            </a:r>
            <a:r>
              <a:rPr lang="en-US" altLang="en-US" sz="2800" b="1" dirty="0">
                <a:solidFill>
                  <a:srgbClr val="C00000"/>
                </a:solidFill>
                <a:latin typeface="Times New Roman" panose="02020603050405020304" pitchFamily="18" charset="0"/>
                <a:cs typeface="Times New Roman" panose="02020603050405020304" pitchFamily="18" charset="0"/>
              </a:rPr>
              <a:t>loaders</a:t>
            </a:r>
            <a:r>
              <a:rPr lang="en-US" altLang="en-US" sz="2800" dirty="0">
                <a:solidFill>
                  <a:schemeClr val="tx1"/>
                </a:solidFill>
                <a:latin typeface="Times New Roman" panose="02020603050405020304" pitchFamily="18" charset="0"/>
                <a:cs typeface="Times New Roman" panose="02020603050405020304" pitchFamily="18" charset="0"/>
              </a:rPr>
              <a:t> to find/calculate the exact address of these memory locations.</a:t>
            </a:r>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Translator</a:t>
            </a:r>
          </a:p>
        </p:txBody>
      </p:sp>
      <p:sp>
        <p:nvSpPr>
          <p:cNvPr id="3" name="Content Placeholder 2"/>
          <p:cNvSpPr>
            <a:spLocks noGrp="1"/>
          </p:cNvSpPr>
          <p:nvPr>
            <p:ph idx="1"/>
          </p:nvPr>
        </p:nvSpPr>
        <p:spPr>
          <a:xfrm>
            <a:off x="457200" y="1600200"/>
            <a:ext cx="8229600" cy="5121275"/>
          </a:xfrm>
        </p:spPr>
        <p:txBody>
          <a:bodyPr/>
          <a:lstStyle/>
          <a:p>
            <a:pPr algn="just"/>
            <a:r>
              <a:rPr lang="en-US" altLang="en-US" sz="2800" b="1" dirty="0">
                <a:solidFill>
                  <a:srgbClr val="C00000"/>
                </a:solidFill>
                <a:latin typeface="Times New Roman" panose="02020603050405020304" pitchFamily="18" charset="0"/>
                <a:cs typeface="Times New Roman" panose="02020603050405020304" pitchFamily="18" charset="0"/>
              </a:rPr>
              <a:t>Translator</a:t>
            </a:r>
            <a:r>
              <a:rPr lang="en-US" altLang="en-US" sz="2800" dirty="0">
                <a:solidFill>
                  <a:schemeClr val="tx1"/>
                </a:solidFill>
                <a:latin typeface="Times New Roman" panose="02020603050405020304" pitchFamily="18" charset="0"/>
                <a:cs typeface="Times New Roman" panose="02020603050405020304" pitchFamily="18" charset="0"/>
              </a:rPr>
              <a:t> is a program that takes as input a program written in one programming language (the source language) and produces as output a program in another language (the object or target language).</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graphicFrame>
        <p:nvGraphicFramePr>
          <p:cNvPr id="4" name="Object 3"/>
          <p:cNvGraphicFramePr/>
          <p:nvPr/>
        </p:nvGraphicFramePr>
        <p:xfrm>
          <a:off x="513080" y="3684270"/>
          <a:ext cx="7850505" cy="1789430"/>
        </p:xfrm>
        <a:graphic>
          <a:graphicData uri="http://schemas.openxmlformats.org/presentationml/2006/ole">
            <mc:AlternateContent xmlns:mc="http://schemas.openxmlformats.org/markup-compatibility/2006">
              <mc:Choice xmlns:v="urn:schemas-microsoft-com:vml" Requires="v">
                <p:oleObj r:id="rId2" imgW="5410200" imgH="895350" progId="Paint.Picture">
                  <p:embed/>
                </p:oleObj>
              </mc:Choice>
              <mc:Fallback>
                <p:oleObj r:id="rId2" imgW="5410200" imgH="895350" progId="Paint.Picture">
                  <p:embed/>
                  <p:pic>
                    <p:nvPicPr>
                      <p:cNvPr id="0" name="Picture 4"/>
                      <p:cNvPicPr/>
                      <p:nvPr/>
                    </p:nvPicPr>
                    <p:blipFill>
                      <a:blip r:embed="rId3"/>
                      <a:stretch>
                        <a:fillRect/>
                      </a:stretch>
                    </p:blipFill>
                    <p:spPr>
                      <a:xfrm>
                        <a:off x="513080" y="3684270"/>
                        <a:ext cx="7850505" cy="1789430"/>
                      </a:xfrm>
                      <a:prstGeom prst="rect">
                        <a:avLst/>
                      </a:prstGeom>
                    </p:spPr>
                  </p:pic>
                </p:oleObj>
              </mc:Fallback>
            </mc:AlternateContent>
          </a:graphicData>
        </a:graphic>
      </p:graphicFrame>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Type of Translators</a:t>
            </a:r>
          </a:p>
        </p:txBody>
      </p:sp>
      <p:sp>
        <p:nvSpPr>
          <p:cNvPr id="3" name="Content Placeholder 2"/>
          <p:cNvSpPr>
            <a:spLocks noGrp="1"/>
          </p:cNvSpPr>
          <p:nvPr>
            <p:ph idx="1"/>
          </p:nvPr>
        </p:nvSpPr>
        <p:spPr>
          <a:xfrm>
            <a:off x="457200" y="1600200"/>
            <a:ext cx="8229600" cy="5121275"/>
          </a:xfrm>
        </p:spPr>
        <p:txBody>
          <a:bodyPr/>
          <a:lstStyle/>
          <a:p>
            <a:pPr algn="just"/>
            <a:r>
              <a:rPr lang="en-US" altLang="en-US" sz="3200" dirty="0">
                <a:solidFill>
                  <a:schemeClr val="tx1"/>
                </a:solidFill>
                <a:latin typeface="Times New Roman" panose="02020603050405020304" pitchFamily="18" charset="0"/>
                <a:cs typeface="Times New Roman" panose="02020603050405020304" pitchFamily="18" charset="0"/>
              </a:rPr>
              <a:t>Compiler</a:t>
            </a:r>
          </a:p>
          <a:p>
            <a:pPr algn="just"/>
            <a:r>
              <a:rPr lang="en-US" altLang="en-US" sz="3200" dirty="0">
                <a:solidFill>
                  <a:schemeClr val="tx1"/>
                </a:solidFill>
                <a:latin typeface="Times New Roman" panose="02020603050405020304" pitchFamily="18" charset="0"/>
                <a:cs typeface="Times New Roman" panose="02020603050405020304" pitchFamily="18" charset="0"/>
              </a:rPr>
              <a:t> Assembler</a:t>
            </a:r>
          </a:p>
          <a:p>
            <a:pPr algn="just"/>
            <a:r>
              <a:rPr lang="en-US" altLang="en-US" sz="3200" dirty="0">
                <a:solidFill>
                  <a:schemeClr val="tx1"/>
                </a:solidFill>
                <a:latin typeface="Times New Roman" panose="02020603050405020304" pitchFamily="18" charset="0"/>
                <a:cs typeface="Times New Roman" panose="02020603050405020304" pitchFamily="18" charset="0"/>
              </a:rPr>
              <a:t>Pre-processor</a:t>
            </a:r>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sym typeface="+mn-ea"/>
              </a:rPr>
              <a:t>List of Compilers</a:t>
            </a:r>
          </a:p>
        </p:txBody>
      </p:sp>
      <p:sp>
        <p:nvSpPr>
          <p:cNvPr id="3" name="Content Placeholder 2"/>
          <p:cNvSpPr>
            <a:spLocks noGrp="1"/>
          </p:cNvSpPr>
          <p:nvPr>
            <p:ph idx="1"/>
          </p:nvPr>
        </p:nvSpPr>
        <p:spPr>
          <a:xfrm>
            <a:off x="457200" y="1600200"/>
            <a:ext cx="8229600" cy="5121275"/>
          </a:xfrm>
        </p:spPr>
        <p:txBody>
          <a:bodyPr/>
          <a:lstStyle/>
          <a:p>
            <a:pPr algn="just"/>
            <a:r>
              <a:rPr lang="en-US" sz="3200" dirty="0">
                <a:solidFill>
                  <a:schemeClr val="tx1"/>
                </a:solidFill>
                <a:latin typeface="Times New Roman" panose="02020603050405020304" pitchFamily="18" charset="0"/>
                <a:cs typeface="Times New Roman" panose="02020603050405020304" pitchFamily="18" charset="0"/>
              </a:rPr>
              <a:t>C/C++</a:t>
            </a:r>
          </a:p>
          <a:p>
            <a:pPr algn="just"/>
            <a:r>
              <a:rPr lang="en-US" sz="3200" dirty="0">
                <a:solidFill>
                  <a:schemeClr val="tx1"/>
                </a:solidFill>
                <a:latin typeface="Times New Roman" panose="02020603050405020304" pitchFamily="18" charset="0"/>
                <a:cs typeface="Times New Roman" panose="02020603050405020304" pitchFamily="18" charset="0"/>
              </a:rPr>
              <a:t>Java</a:t>
            </a:r>
          </a:p>
          <a:p>
            <a:pPr algn="just"/>
            <a:r>
              <a:rPr lang="en-US" sz="3200" dirty="0">
                <a:solidFill>
                  <a:schemeClr val="tx1"/>
                </a:solidFill>
                <a:latin typeface="Times New Roman" panose="02020603050405020304" pitchFamily="18" charset="0"/>
                <a:cs typeface="Times New Roman" panose="02020603050405020304" pitchFamily="18" charset="0"/>
              </a:rPr>
              <a:t>Python</a:t>
            </a:r>
          </a:p>
          <a:p>
            <a:pPr algn="just"/>
            <a:r>
              <a:rPr lang="en-US" sz="3200" dirty="0">
                <a:solidFill>
                  <a:schemeClr val="tx1"/>
                </a:solidFill>
                <a:latin typeface="Times New Roman" panose="02020603050405020304" pitchFamily="18" charset="0"/>
                <a:cs typeface="Times New Roman" panose="02020603050405020304" pitchFamily="18" charset="0"/>
              </a:rPr>
              <a:t>JavaScript</a:t>
            </a:r>
          </a:p>
          <a:p>
            <a:pPr algn="just"/>
            <a:r>
              <a:rPr lang="en-US" sz="3200" dirty="0">
                <a:solidFill>
                  <a:schemeClr val="tx1"/>
                </a:solidFill>
                <a:latin typeface="Times New Roman" panose="02020603050405020304" pitchFamily="18" charset="0"/>
                <a:cs typeface="Times New Roman" panose="02020603050405020304" pitchFamily="18" charset="0"/>
              </a:rPr>
              <a:t>Many other.....</a:t>
            </a:r>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8100" y="0"/>
            <a:ext cx="9208474" cy="1115736"/>
            <a:chOff x="0" y="0"/>
            <a:chExt cx="12324746" cy="1115736"/>
          </a:xfrm>
        </p:grpSpPr>
        <p:sp>
          <p:nvSpPr>
            <p:cNvPr id="6" name="Rectangle 5"/>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10"/>
            <p:cNvSpPr txBox="1"/>
            <p:nvPr/>
          </p:nvSpPr>
          <p:spPr>
            <a:xfrm>
              <a:off x="10212027" y="677208"/>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9" name="Graphic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1489" y="350125"/>
              <a:ext cx="261610" cy="261610"/>
            </a:xfrm>
            <a:prstGeom prst="rect">
              <a:avLst/>
            </a:prstGeom>
          </p:spPr>
        </p:pic>
        <p:sp>
          <p:nvSpPr>
            <p:cNvPr id="10" name="TextBox 12"/>
            <p:cNvSpPr txBox="1"/>
            <p:nvPr/>
          </p:nvSpPr>
          <p:spPr>
            <a:xfrm>
              <a:off x="9718342" y="242403"/>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09986" y="703941"/>
              <a:ext cx="171450" cy="171450"/>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15926" y="703941"/>
              <a:ext cx="171452" cy="171451"/>
            </a:xfrm>
            <a:prstGeom prst="rect">
              <a:avLst/>
            </a:prstGeom>
          </p:spPr>
        </p:pic>
      </p:grpSp>
      <p:sp>
        <p:nvSpPr>
          <p:cNvPr id="13" name="Title 1"/>
          <p:cNvSpPr txBox="1"/>
          <p:nvPr/>
        </p:nvSpPr>
        <p:spPr>
          <a:xfrm>
            <a:off x="274093" y="1447800"/>
            <a:ext cx="88392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FF0000"/>
                </a:solidFill>
              </a:rPr>
              <a:t>Advice…!!</a:t>
            </a:r>
          </a:p>
        </p:txBody>
      </p:sp>
      <p:sp>
        <p:nvSpPr>
          <p:cNvPr id="14" name="Content Placeholder 2"/>
          <p:cNvSpPr>
            <a:spLocks noGrp="1"/>
          </p:cNvSpPr>
          <p:nvPr>
            <p:ph idx="1"/>
          </p:nvPr>
        </p:nvSpPr>
        <p:spPr>
          <a:xfrm>
            <a:off x="152400" y="1600200"/>
            <a:ext cx="8839200" cy="4648200"/>
          </a:xfrm>
        </p:spPr>
        <p:txBody>
          <a:bodyPr/>
          <a:lstStyle/>
          <a:p>
            <a:pPr marL="0" indent="0" algn="ctr">
              <a:buNone/>
            </a:pPr>
            <a:endParaRPr lang="en-US" dirty="0">
              <a:solidFill>
                <a:srgbClr val="C00000"/>
              </a:solidFill>
            </a:endParaRPr>
          </a:p>
          <a:p>
            <a:pPr marL="0" indent="0" algn="ctr">
              <a:buNone/>
            </a:pPr>
            <a:endParaRPr lang="en-US" dirty="0">
              <a:solidFill>
                <a:srgbClr val="C00000"/>
              </a:solidFill>
            </a:endParaRPr>
          </a:p>
          <a:p>
            <a:pPr marL="0" indent="0" algn="ctr">
              <a:buNone/>
            </a:pPr>
            <a:endParaRPr lang="en-US" dirty="0">
              <a:solidFill>
                <a:srgbClr val="C00000"/>
              </a:solidFill>
            </a:endParaRPr>
          </a:p>
          <a:p>
            <a:pPr marL="0" indent="0" algn="ctr">
              <a:buNone/>
            </a:pPr>
            <a:r>
              <a:rPr lang="en-US" sz="3200" dirty="0">
                <a:solidFill>
                  <a:srgbClr val="002060"/>
                </a:solidFill>
              </a:rPr>
              <a:t>Kindly read the book before and after the lecture, if some terms/ words are not covered in the lecture, if appear in exam it might not appear strange or out of course.</a:t>
            </a:r>
          </a:p>
          <a:p>
            <a:pPr marL="0" indent="0">
              <a:buNone/>
            </a:pPr>
            <a:endParaRPr lang="en-US" dirty="0"/>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0</TotalTime>
  <Words>551</Words>
  <Application>Microsoft Office PowerPoint</Application>
  <PresentationFormat>On-screen Show (4:3)</PresentationFormat>
  <Paragraphs>81</Paragraphs>
  <Slides>16</Slides>
  <Notes>2</Notes>
  <HiddenSlides>0</HiddenSlides>
  <MMClips>0</MMClips>
  <ScaleCrop>false</ScaleCrop>
  <HeadingPairs>
    <vt:vector size="8" baseType="variant">
      <vt:variant>
        <vt:lpstr>Fonts Used</vt:lpstr>
      </vt:variant>
      <vt:variant>
        <vt:i4>6</vt:i4>
      </vt:variant>
      <vt:variant>
        <vt:lpstr>Theme</vt:lpstr>
      </vt:variant>
      <vt:variant>
        <vt:i4>10</vt:i4>
      </vt:variant>
      <vt:variant>
        <vt:lpstr>Embedded OLE Servers</vt:lpstr>
      </vt:variant>
      <vt:variant>
        <vt:i4>1</vt:i4>
      </vt:variant>
      <vt:variant>
        <vt:lpstr>Slide Titles</vt:lpstr>
      </vt:variant>
      <vt:variant>
        <vt:i4>16</vt:i4>
      </vt:variant>
    </vt:vector>
  </HeadingPairs>
  <TitlesOfParts>
    <vt:vector size="33" baseType="lpstr">
      <vt:lpstr>Arial</vt:lpstr>
      <vt:lpstr>Arial Black</vt:lpstr>
      <vt:lpstr>Calibri</vt:lpstr>
      <vt:lpstr>Garamond</vt:lpstr>
      <vt:lpstr>Times New Roman</vt:lpstr>
      <vt:lpstr>Wingdings</vt:lpstr>
      <vt:lpstr>SE10 slides</vt:lpstr>
      <vt:lpstr>1_SE10 slides</vt:lpstr>
      <vt:lpstr>2_SE10 slides</vt:lpstr>
      <vt:lpstr>3_SE10 slides</vt:lpstr>
      <vt:lpstr>4_SE10 slides</vt:lpstr>
      <vt:lpstr>5_SE10 slides</vt:lpstr>
      <vt:lpstr>6_SE10 slides</vt:lpstr>
      <vt:lpstr>7_SE10 slides</vt:lpstr>
      <vt:lpstr>8_SE10 slides</vt:lpstr>
      <vt:lpstr>9_SE10 slides</vt:lpstr>
      <vt:lpstr>Bitmap Image</vt:lpstr>
      <vt:lpstr>BSCS-7th Semester</vt:lpstr>
      <vt:lpstr>PowerPoint Presentation</vt:lpstr>
      <vt:lpstr>PowerPoint Presentation</vt:lpstr>
      <vt:lpstr>Content </vt:lpstr>
      <vt:lpstr>Preprocessor</vt:lpstr>
      <vt:lpstr>Preprocessor</vt:lpstr>
      <vt:lpstr>Compiler</vt:lpstr>
      <vt:lpstr>Compiler</vt:lpstr>
      <vt:lpstr>Assembler</vt:lpstr>
      <vt:lpstr>Interpreter</vt:lpstr>
      <vt:lpstr>Interpreter</vt:lpstr>
      <vt:lpstr>Loader and Link-editor</vt:lpstr>
      <vt:lpstr>Translator</vt:lpstr>
      <vt:lpstr>Type of Translators</vt:lpstr>
      <vt:lpstr>List of Compilers</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84</cp:revision>
  <dcterms:created xsi:type="dcterms:W3CDTF">2009-12-29T10:39:00Z</dcterms:created>
  <dcterms:modified xsi:type="dcterms:W3CDTF">2026-07-13T11:41:34Z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FEDDDEFD92E4449B9948A91A1D07A9A5</vt:lpwstr>
  </property>
  <property fmtid="{D5CDD505-2E9C-101B-9397-08002B2CF9AE}" pid="3" name="KSOProductBuildVer">
    <vt:lpwstr>1033-12.2.0.21931</vt:lpwstr>
  </property>
</Properties>
</file>