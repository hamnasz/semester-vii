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</p:sldMasterIdLst>
  <p:notesMasterIdLst>
    <p:notesMasterId r:id="rId24"/>
  </p:notesMasterIdLst>
  <p:handoutMasterIdLst>
    <p:handoutMasterId r:id="rId25"/>
  </p:handoutMasterIdLst>
  <p:sldIdLst>
    <p:sldId id="333" r:id="rId9"/>
    <p:sldId id="334" r:id="rId10"/>
    <p:sldId id="335" r:id="rId11"/>
    <p:sldId id="327" r:id="rId12"/>
    <p:sldId id="370" r:id="rId13"/>
    <p:sldId id="401" r:id="rId14"/>
    <p:sldId id="403" r:id="rId15"/>
    <p:sldId id="417" r:id="rId16"/>
    <p:sldId id="418" r:id="rId17"/>
    <p:sldId id="419" r:id="rId18"/>
    <p:sldId id="402" r:id="rId19"/>
    <p:sldId id="405" r:id="rId20"/>
    <p:sldId id="406" r:id="rId21"/>
    <p:sldId id="404" r:id="rId22"/>
    <p:sldId id="338" r:id="rId2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291" autoAdjust="0"/>
  </p:normalViewPr>
  <p:slideViewPr>
    <p:cSldViewPr snapToGrid="0" snapToObjects="1" showGuides="1">
      <p:cViewPr varScale="1">
        <p:scale>
          <a:sx n="68" d="100"/>
          <a:sy n="6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-12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32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05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87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42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The lexical analyzer produces tokens with attributes like this:</a:t>
            </a:r>
          </a:p>
          <a:p>
            <a:r>
              <a:rPr lang="en-US" b="1" dirty="0"/>
              <a:t>1. &lt;id, pointer to symbol table entry for E&gt;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</a:t>
            </a:r>
            <a:r>
              <a:rPr lang="en-US" dirty="0"/>
              <a:t> = token type (identifier).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Attribute = pointer to </a:t>
            </a:r>
            <a:r>
              <a:rPr lang="en-US" b="1" dirty="0"/>
              <a:t>symbol table</a:t>
            </a:r>
            <a:r>
              <a:rPr lang="en-US" dirty="0"/>
              <a:t> entry where details of E are stored (like data type, memory location, scope).</a:t>
            </a:r>
          </a:p>
          <a:p>
            <a:r>
              <a:rPr lang="en-US" b="1" dirty="0"/>
              <a:t>2. &lt;assign-op&gt;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assign-op</a:t>
            </a:r>
            <a:r>
              <a:rPr lang="en-US" dirty="0"/>
              <a:t> = token type (assignment operator =).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extra attribute is needed (since = always means assignment).</a:t>
            </a:r>
          </a:p>
          <a:p>
            <a:r>
              <a:rPr lang="en-US" b="1" dirty="0"/>
              <a:t>3. &lt;id, pointer to symbol table entry for M&gt;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Again, an identifier 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Attribute = pointer to M’s record in the symbol table.</a:t>
            </a:r>
          </a:p>
          <a:p>
            <a:r>
              <a:rPr lang="en-US" b="1" dirty="0"/>
              <a:t>4. &lt;</a:t>
            </a:r>
            <a:r>
              <a:rPr lang="en-US" b="1" dirty="0" err="1"/>
              <a:t>mult</a:t>
            </a:r>
            <a:r>
              <a:rPr lang="en-US" b="1" dirty="0"/>
              <a:t>-op&gt;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Token type for multiplication operator *.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attributes needed, because multiplication is unique.</a:t>
            </a:r>
          </a:p>
          <a:p>
            <a:r>
              <a:rPr lang="en-US" b="1" dirty="0"/>
              <a:t>5. &lt;id, pointer to symbol table entry for C&gt;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Identifier 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Attribute = pointer to C’s symbol table entry.</a:t>
            </a:r>
          </a:p>
          <a:p>
            <a:r>
              <a:rPr lang="en-US" b="1" dirty="0"/>
              <a:t>6. &lt;exp-op&gt;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Token type for exponentiation operator **. </a:t>
            </a:r>
            <a:r>
              <a:rPr lang="en-US" i="1" dirty="0"/>
              <a:t>(</a:t>
            </a:r>
            <a:r>
              <a:rPr lang="en-US" b="0" i="1" dirty="0">
                <a:solidFill>
                  <a:srgbClr val="1F1F1F"/>
                </a:solidFill>
                <a:effectLst/>
                <a:latin typeface="Google Sans"/>
              </a:rPr>
              <a:t>The exponentiation ( ** ) operator </a:t>
            </a:r>
            <a:r>
              <a:rPr lang="en-US" b="0" i="1" dirty="0">
                <a:solidFill>
                  <a:srgbClr val="040C28"/>
                </a:solidFill>
                <a:effectLst/>
                <a:latin typeface="Google Sans"/>
              </a:rPr>
              <a:t>returns the result of raising the first operand to the power of the second operand</a:t>
            </a:r>
            <a:r>
              <a:rPr lang="en-US" i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attribute, operator meaning is fixed.</a:t>
            </a:r>
          </a:p>
          <a:p>
            <a:r>
              <a:rPr lang="en-US" b="1" dirty="0"/>
              <a:t>7. &lt;number, integer value 2&gt;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Token type = number literal.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Attribute = actual </a:t>
            </a:r>
            <a:r>
              <a:rPr lang="en-US" b="1" dirty="0"/>
              <a:t>value</a:t>
            </a:r>
            <a:r>
              <a:rPr lang="en-US" dirty="0"/>
              <a:t> (here 2).</a:t>
            </a:r>
          </a:p>
          <a:p>
            <a:r>
              <a:rPr lang="en-US" b="1" dirty="0"/>
              <a:t>Why attributes?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Identifiers</a:t>
            </a:r>
            <a:r>
              <a:rPr lang="en-US" dirty="0"/>
              <a:t> (E, M, C) → need pointers to symbol table, since compiler must know their type, scope, and where to store/load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Operators</a:t>
            </a:r>
            <a:r>
              <a:rPr lang="en-US" dirty="0"/>
              <a:t> (=, *, **) → usually don’t need attributes; their role is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Numbers/literals</a:t>
            </a:r>
            <a:r>
              <a:rPr lang="en-US" dirty="0"/>
              <a:t> (2) → need actual values as attributes.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BSCS-7</a:t>
            </a:r>
            <a:r>
              <a:rPr lang="en-GB" sz="4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2510119"/>
            <a:ext cx="6716268" cy="3181229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			</a:t>
            </a:r>
          </a:p>
          <a:p>
            <a:pPr algn="r"/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M. </a:t>
            </a:r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727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0" y="1268195"/>
            <a:ext cx="9144000" cy="1752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  <a:latin typeface="Arial Black" panose="020B0A04020102020204" pitchFamily="34" charset="0"/>
              </a:rPr>
              <a:t>Compiler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0692" y="4394682"/>
            <a:ext cx="2595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Lecture 04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8574" y="3444517"/>
            <a:ext cx="32468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Course Code: CS-411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100" y="0"/>
            <a:ext cx="9288300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Content Placeholder 2"/>
          <p:cNvSpPr txBox="1"/>
          <p:nvPr/>
        </p:nvSpPr>
        <p:spPr>
          <a:xfrm>
            <a:off x="152400" y="2209800"/>
            <a:ext cx="8839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Credit Hours: </a:t>
            </a:r>
            <a:r>
              <a:rPr lang="en-US" b="1" dirty="0">
                <a:solidFill>
                  <a:srgbClr val="FF0000"/>
                </a:solidFill>
              </a:rPr>
              <a:t>3(3-0)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Theory: </a:t>
            </a:r>
            <a:r>
              <a:rPr lang="en-US" b="1" dirty="0">
                <a:solidFill>
                  <a:srgbClr val="FF0000"/>
                </a:solidFill>
              </a:rPr>
              <a:t>Cr. Hr. 03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Practical: </a:t>
            </a:r>
            <a:r>
              <a:rPr lang="en-US" b="1" dirty="0">
                <a:solidFill>
                  <a:srgbClr val="FF0000"/>
                </a:solidFill>
              </a:rPr>
              <a:t>Cr. Hr. 00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Content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7965"/>
            <a:ext cx="8229600" cy="5121275"/>
          </a:xfrm>
        </p:spPr>
        <p:txBody>
          <a:bodyPr/>
          <a:lstStyle/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Lexeme generation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Lexeme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Lexical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the source program as a file of characters and divide them up into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 are recognized using Finite Automata or Transition Diagram.</a:t>
            </a: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4" name="Object 3"/>
          <p:cNvGraphicFramePr/>
          <p:nvPr/>
        </p:nvGraphicFramePr>
        <p:xfrm>
          <a:off x="1010920" y="3429000"/>
          <a:ext cx="6755130" cy="303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695950" imgH="2447925" progId="Paint.Picture">
                  <p:embed/>
                </p:oleObj>
              </mc:Choice>
              <mc:Fallback>
                <p:oleObj r:id="rId3" imgW="5695950" imgH="244792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0920" y="3429000"/>
                        <a:ext cx="6755130" cy="3034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Lexical Analyzer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vital functions of lexical analyzer are: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tokens from program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tokens into symbol table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whitespaces, comments, newline characters, etc... from string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tokens to parser (Pass their integer no./code to parser)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line numbers (for error handling)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of macros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reads characters from the input, groups them in lexeme and 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passes the tokens formed by the lexemes, together with their attribute values to the parser.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situations, it has to read some characters ahead before it can decide on the tokens to be returned to the parser.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Token, Lexeme, Pattern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Token: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Token is a sequence of characters that can be treated as a single logical entity. Typical tokens are,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Identifiers </a:t>
            </a: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Keywords</a:t>
            </a: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Operators</a:t>
            </a: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Special symbols</a:t>
            </a: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Constants</a:t>
            </a: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Literal strings</a:t>
            </a:r>
          </a:p>
          <a:p>
            <a:pPr marL="971550" lvl="1" indent="-514350" algn="just">
              <a:buAutoNum type="arabi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Punctuation symbols (such as commas, Semi-colons)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Token, Lexeme, Pattern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Lexeme: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lexeme is a sequence of characters in the source program that is matched by the pattern for a token and is identified by the lexical analyzer as an instance of that token.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Ex. Relational Operator {&lt;,&gt;,&lt;=,&gt;=,==}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2533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Token, Lexeme, Pattern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Pattern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Rule of description is patterns.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Gives a precise description /specification of tokens.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Used to automatically generate a lexical analyzer.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gives a an informal or formal description of a token.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 letter(letter/digit), identifier </a:t>
            </a:r>
          </a:p>
          <a:p>
            <a:pPr marL="457200" lvl="1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5822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Token, Lexeme, Pattern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62EC5B-BE69-40BC-B08D-AD2B02218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186" t="27105" r="58444" b="43924"/>
          <a:stretch/>
        </p:blipFill>
        <p:spPr>
          <a:xfrm>
            <a:off x="1182623" y="1963562"/>
            <a:ext cx="6272729" cy="3876406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4341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1185545" y="1756410"/>
          <a:ext cx="6452235" cy="427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53050" imgH="3543300" progId="Paint.Picture">
                  <p:embed/>
                </p:oleObj>
              </mc:Choice>
              <mc:Fallback>
                <p:oleObj r:id="rId3" imgW="5353050" imgH="35433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5545" y="1756410"/>
                        <a:ext cx="6452235" cy="427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Attributes for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indent="-246063" algn="just">
              <a:lnSpc>
                <a:spcPct val="80000"/>
              </a:lnSpc>
            </a:pPr>
            <a:r>
              <a:rPr lang="en-US" sz="2800" dirty="0"/>
              <a:t>E = M * C ** 2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&lt;id, pointer to symbol table entry for E&gt;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&lt;assign-op&gt;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&lt;id, pointer to symbol table entry for M&gt;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</a:t>
            </a:r>
            <a:r>
              <a:rPr lang="en-US" sz="2400" dirty="0" err="1">
                <a:solidFill>
                  <a:schemeClr val="tx1"/>
                </a:solidFill>
              </a:rPr>
              <a:t>mult</a:t>
            </a:r>
            <a:r>
              <a:rPr lang="en-US" sz="2400" dirty="0">
                <a:solidFill>
                  <a:schemeClr val="tx1"/>
                </a:solidFill>
              </a:rPr>
              <a:t>-op&gt;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&lt;id, pointer to symbol table entry for C&gt;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&lt;exp-op&gt;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&lt;number, integer value 2&gt;</a:t>
            </a: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r>
              <a:rPr lang="en-US" dirty="0"/>
              <a:t>Suppose we pass a statement through lexical analyzer –</a:t>
            </a:r>
          </a:p>
          <a:p>
            <a:r>
              <a:rPr lang="en-US" b="1" dirty="0"/>
              <a:t>a = b + c</a:t>
            </a:r>
            <a:r>
              <a:rPr lang="en-US" dirty="0"/>
              <a:t> ;               </a:t>
            </a:r>
          </a:p>
          <a:p>
            <a:pPr>
              <a:buNone/>
            </a:pPr>
            <a:r>
              <a:rPr lang="en-US" dirty="0"/>
              <a:t>   It will generate token sequence like this:</a:t>
            </a:r>
          </a:p>
          <a:p>
            <a:pPr>
              <a:buNone/>
            </a:pPr>
            <a:r>
              <a:rPr lang="en-US" b="1" dirty="0"/>
              <a:t>	id=</a:t>
            </a:r>
            <a:r>
              <a:rPr lang="en-US" b="1" dirty="0" err="1"/>
              <a:t>id+id</a:t>
            </a:r>
            <a:r>
              <a:rPr lang="en-US" dirty="0"/>
              <a:t>;                 </a:t>
            </a:r>
          </a:p>
          <a:p>
            <a:pPr>
              <a:buNone/>
            </a:pPr>
            <a:r>
              <a:rPr lang="en-US" dirty="0"/>
              <a:t>	Where each id reference to it’s variable in the symbol table referencing all details</a:t>
            </a: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https://www.slideshare.net/slideshow/lecture-1-lexical-analysisppt/256050022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https://www.slideshare.net/slideshow/lexical-analysis-compiler-design-249767853/249767853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100" y="0"/>
            <a:ext cx="9208474" cy="1115736"/>
            <a:chOff x="0" y="0"/>
            <a:chExt cx="12324746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10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Title 1"/>
          <p:cNvSpPr txBox="1"/>
          <p:nvPr/>
        </p:nvSpPr>
        <p:spPr>
          <a:xfrm>
            <a:off x="274093" y="14478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Advice…!!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rgbClr val="002060"/>
                </a:solidFill>
              </a:rPr>
              <a:t>Kindly read the book before and after the lecture, if some terms/ words are not covered in the lecture, if appear in exam it might not appear strange or out of course.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18</TotalTime>
  <Words>841</Words>
  <Application>Microsoft Office PowerPoint</Application>
  <PresentationFormat>On-screen Show (4:3)</PresentationFormat>
  <Paragraphs>128</Paragraphs>
  <Slides>15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Arial</vt:lpstr>
      <vt:lpstr>Arial Black</vt:lpstr>
      <vt:lpstr>Calibri</vt:lpstr>
      <vt:lpstr>Garamond</vt:lpstr>
      <vt:lpstr>Google Sans</vt:lpstr>
      <vt:lpstr>Times New Roman</vt:lpstr>
      <vt:lpstr>Wingdings</vt:lpstr>
      <vt:lpstr>SE10 slides</vt:lpstr>
      <vt:lpstr>2_SE10 slides</vt:lpstr>
      <vt:lpstr>1_SE10 slides</vt:lpstr>
      <vt:lpstr>3_SE10 slides</vt:lpstr>
      <vt:lpstr>4_SE10 slides</vt:lpstr>
      <vt:lpstr>5_SE10 slides</vt:lpstr>
      <vt:lpstr>6_SE10 slides</vt:lpstr>
      <vt:lpstr>7_SE10 slides</vt:lpstr>
      <vt:lpstr>Bitmap Image</vt:lpstr>
      <vt:lpstr>BSCS-7th Semester</vt:lpstr>
      <vt:lpstr>PowerPoint Presentation</vt:lpstr>
      <vt:lpstr>PowerPoint Presentation</vt:lpstr>
      <vt:lpstr>Content </vt:lpstr>
      <vt:lpstr>Lexical analyzer</vt:lpstr>
      <vt:lpstr>How Lexical Analyzer functions</vt:lpstr>
      <vt:lpstr>Token, Lexeme, Pattern </vt:lpstr>
      <vt:lpstr>Token, Lexeme, Pattern </vt:lpstr>
      <vt:lpstr>Token, Lexeme, Pattern </vt:lpstr>
      <vt:lpstr>Token, Lexeme, Pattern </vt:lpstr>
      <vt:lpstr>PowerPoint Presentation</vt:lpstr>
      <vt:lpstr>Attributes for tokens</vt:lpstr>
      <vt:lpstr>Cont….</vt:lpstr>
      <vt:lpstr>Reference </vt:lpstr>
      <vt:lpstr>PowerPoint Presentation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103</cp:revision>
  <dcterms:created xsi:type="dcterms:W3CDTF">2009-12-29T10:39:00Z</dcterms:created>
  <dcterms:modified xsi:type="dcterms:W3CDTF">2026-07-24T04:41:03Z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FEDDDEFD92E4449B9948A91A1D07A9A5</vt:lpwstr>
  </property>
  <property fmtid="{D5CDD505-2E9C-101B-9397-08002B2CF9AE}" pid="3" name="KSOProductBuildVer">
    <vt:lpwstr>1033-12.2.0.21931</vt:lpwstr>
  </property>
</Properties>
</file>