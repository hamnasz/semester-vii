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20" r:id="rId7"/>
    <p:sldMasterId id="2147483732" r:id="rId8"/>
    <p:sldMasterId id="2147483744" r:id="rId9"/>
    <p:sldMasterId id="2147483756" r:id="rId10"/>
  </p:sldMasterIdLst>
  <p:notesMasterIdLst>
    <p:notesMasterId r:id="rId25"/>
  </p:notesMasterIdLst>
  <p:handoutMasterIdLst>
    <p:handoutMasterId r:id="rId26"/>
  </p:handoutMasterIdLst>
  <p:sldIdLst>
    <p:sldId id="333" r:id="rId11"/>
    <p:sldId id="334" r:id="rId12"/>
    <p:sldId id="335" r:id="rId13"/>
    <p:sldId id="327" r:id="rId14"/>
    <p:sldId id="339" r:id="rId15"/>
    <p:sldId id="370" r:id="rId16"/>
    <p:sldId id="371" r:id="rId17"/>
    <p:sldId id="372" r:id="rId18"/>
    <p:sldId id="383" r:id="rId19"/>
    <p:sldId id="375" r:id="rId20"/>
    <p:sldId id="374" r:id="rId21"/>
    <p:sldId id="384" r:id="rId22"/>
    <p:sldId id="385" r:id="rId23"/>
    <p:sldId id="338" r:id="rId24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24D"/>
    <a:srgbClr val="5B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60"/>
  </p:normalViewPr>
  <p:slideViewPr>
    <p:cSldViewPr snapToGrid="0" snapToObjects="1" showGuides="1">
      <p:cViewPr varScale="1">
        <p:scale>
          <a:sx n="68" d="100"/>
          <a:sy n="68" d="100"/>
        </p:scale>
        <p:origin x="144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47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DC1E3-3C06-49E0-A248-4FB1E4E47BD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8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4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5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6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17" Type="http://schemas.openxmlformats.org/officeDocument/2006/relationships/image" Target="../media/image12.svg"/><Relationship Id="rId2" Type="http://schemas.openxmlformats.org/officeDocument/2006/relationships/slideLayout" Target="../slideLayouts/slideLayout79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image" Target="../media/image11.svg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image" Target="../media/image2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17" Type="http://schemas.openxmlformats.org/officeDocument/2006/relationships/image" Target="../media/image12.svg"/><Relationship Id="rId2" Type="http://schemas.openxmlformats.org/officeDocument/2006/relationships/slideLayout" Target="../slideLayouts/slideLayout90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5" Type="http://schemas.openxmlformats.org/officeDocument/2006/relationships/image" Target="../media/image11.svg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2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17" Type="http://schemas.openxmlformats.org/officeDocument/2006/relationships/image" Target="../media/image12.svg"/><Relationship Id="rId2" Type="http://schemas.openxmlformats.org/officeDocument/2006/relationships/slideLayout" Target="../slideLayouts/slideLayout101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image" Target="../media/image11.svg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7889" y="1229265"/>
            <a:ext cx="7688222" cy="1153160"/>
          </a:xfrm>
        </p:spPr>
        <p:txBody>
          <a:bodyPr>
            <a:noAutofit/>
          </a:bodyPr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BSCS-7</a:t>
            </a:r>
            <a:r>
              <a:rPr lang="en-GB" sz="40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GB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Semester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1233" y="2510119"/>
            <a:ext cx="6716268" cy="3181229"/>
          </a:xfrm>
        </p:spPr>
        <p:txBody>
          <a:bodyPr>
            <a:noAutofit/>
          </a:bodyPr>
          <a:lstStyle/>
          <a:p>
            <a:r>
              <a:rPr lang="en-GB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			</a:t>
            </a:r>
          </a:p>
          <a:p>
            <a:pPr algn="r"/>
            <a:endParaRPr lang="en-GB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M. </a:t>
            </a:r>
            <a:r>
              <a:rPr lang="en-GB" sz="2400" b="1">
                <a:solidFill>
                  <a:schemeClr val="bg1"/>
                </a:solidFill>
                <a:latin typeface="Garamond" panose="02020404030301010803" pitchFamily="18" charset="0"/>
              </a:rPr>
              <a:t>Arham</a:t>
            </a:r>
            <a:endParaRPr lang="en-GB" sz="24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Lecturer</a:t>
            </a: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The University of Faisalabad</a:t>
            </a: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2728" y="0"/>
            <a:ext cx="2708768" cy="36116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72748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0" y="1268195"/>
            <a:ext cx="9144000" cy="1752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bg1"/>
                </a:solidFill>
                <a:latin typeface="Arial Black" panose="020B0A04020102020204" pitchFamily="34" charset="0"/>
              </a:rPr>
              <a:t>Compiler Construction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430692" y="4394682"/>
            <a:ext cx="25958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Lecture 04 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8574" y="3444517"/>
            <a:ext cx="32468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Course Code: CS-411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100" y="0"/>
            <a:ext cx="9288300" cy="1115736"/>
            <a:chOff x="0" y="0"/>
            <a:chExt cx="12324746" cy="111573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10"/>
            <p:cNvSpPr txBox="1"/>
            <p:nvPr/>
          </p:nvSpPr>
          <p:spPr>
            <a:xfrm>
              <a:off x="10212027" y="677208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551489" y="350125"/>
              <a:ext cx="261610" cy="261610"/>
            </a:xfrm>
            <a:prstGeom prst="rect">
              <a:avLst/>
            </a:prstGeom>
          </p:spPr>
        </p:pic>
        <p:sp>
          <p:nvSpPr>
            <p:cNvPr id="9" name="TextBox 12"/>
            <p:cNvSpPr txBox="1"/>
            <p:nvPr/>
          </p:nvSpPr>
          <p:spPr>
            <a:xfrm>
              <a:off x="9718342" y="242403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0" name="Graphic 13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09986" y="703941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5926" y="703941"/>
              <a:ext cx="171452" cy="171451"/>
            </a:xfrm>
            <a:prstGeom prst="rect">
              <a:avLst/>
            </a:prstGeom>
          </p:spPr>
        </p:pic>
      </p:grpSp>
      <p:sp>
        <p:nvSpPr>
          <p:cNvPr id="13" name="Content Placeholder 2"/>
          <p:cNvSpPr txBox="1"/>
          <p:nvPr/>
        </p:nvSpPr>
        <p:spPr>
          <a:xfrm>
            <a:off x="152400" y="2209800"/>
            <a:ext cx="8839200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Credit Hours: </a:t>
            </a:r>
            <a:r>
              <a:rPr lang="en-US" b="1" dirty="0">
                <a:solidFill>
                  <a:srgbClr val="FF0000"/>
                </a:solidFill>
              </a:rPr>
              <a:t>3(3-0)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Theory: </a:t>
            </a:r>
            <a:r>
              <a:rPr lang="en-US" b="1" dirty="0">
                <a:solidFill>
                  <a:srgbClr val="FF0000"/>
                </a:solidFill>
              </a:rPr>
              <a:t>Cr. Hr. 03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Practical: </a:t>
            </a:r>
            <a:r>
              <a:rPr lang="en-US" b="1" dirty="0">
                <a:solidFill>
                  <a:srgbClr val="FF0000"/>
                </a:solidFill>
              </a:rPr>
              <a:t>Cr. Hr. 00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Content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7965"/>
            <a:ext cx="8229600" cy="5121275"/>
          </a:xfrm>
        </p:spPr>
        <p:txBody>
          <a:bodyPr/>
          <a:lstStyle/>
          <a:p>
            <a:pPr algn="just"/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Management</a:t>
            </a:r>
          </a:p>
          <a:p>
            <a:pPr algn="just"/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Handlers</a:t>
            </a:r>
          </a:p>
          <a:p>
            <a:pPr algn="just"/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Parser functions </a:t>
            </a:r>
          </a:p>
          <a:p>
            <a:pPr algn="just"/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Translation of a assignment statement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Table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2095"/>
            <a:ext cx="8229600" cy="4951095"/>
          </a:xfrm>
        </p:spPr>
        <p:txBody>
          <a:bodyPr/>
          <a:lstStyle/>
          <a:p>
            <a:pPr algn="just"/>
            <a:r>
              <a:rPr lang="en-US" dirty="0">
                <a:solidFill>
                  <a:schemeClr val="tx1"/>
                </a:solidFill>
                <a:sym typeface="+mn-ea"/>
              </a:rPr>
              <a:t>This is the portion to keep the names used by the program and records essential information about each. 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>
                <a:solidFill>
                  <a:schemeClr val="tx1"/>
                </a:solidFill>
                <a:sym typeface="+mn-ea"/>
              </a:rPr>
              <a:t>The data structure used to record this information called a  ‘</a:t>
            </a:r>
            <a:r>
              <a:rPr lang="en-US" b="1" i="1" dirty="0">
                <a:solidFill>
                  <a:schemeClr val="tx1"/>
                </a:solidFill>
                <a:sym typeface="+mn-ea"/>
              </a:rPr>
              <a:t>Symbol Table</a:t>
            </a:r>
            <a:r>
              <a:rPr lang="en-US" dirty="0">
                <a:solidFill>
                  <a:schemeClr val="tx1"/>
                </a:solidFill>
                <a:sym typeface="+mn-ea"/>
              </a:rPr>
              <a:t>’.</a:t>
            </a:r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Symbol Table is data structure created and maintained by compilers to store information about the occurrence of various entities such as variable name, function names, objects, classes, interfaces, etc...</a:t>
            </a:r>
          </a:p>
          <a:p>
            <a:pPr lvl="1" algn="just"/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Error Handlers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2095"/>
            <a:ext cx="8229600" cy="4951095"/>
          </a:xfrm>
        </p:spPr>
        <p:txBody>
          <a:bodyPr/>
          <a:lstStyle/>
          <a:p>
            <a:pPr algn="just"/>
            <a:r>
              <a:rPr lang="en-US" b="1" dirty="0">
                <a:solidFill>
                  <a:schemeClr val="tx1"/>
                </a:solidFill>
                <a:sym typeface="+mn-ea"/>
              </a:rPr>
              <a:t>Error Handling</a:t>
            </a:r>
            <a:r>
              <a:rPr lang="en-US" dirty="0">
                <a:solidFill>
                  <a:schemeClr val="tx1"/>
                </a:solidFill>
                <a:sym typeface="+mn-ea"/>
              </a:rPr>
              <a:t> process are to detect each error, report it to the user, and then make some recovery strategy and implement them to handle the error.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sym typeface="+mn-ea"/>
              </a:rPr>
              <a:t>Functions of Error Handler:</a:t>
            </a:r>
            <a:endParaRPr lang="en-US" b="1" dirty="0">
              <a:solidFill>
                <a:schemeClr val="tx1"/>
              </a:solidFill>
            </a:endParaRPr>
          </a:p>
          <a:p>
            <a:pPr fontAlgn="base"/>
            <a:r>
              <a:rPr lang="en-US" dirty="0">
                <a:solidFill>
                  <a:schemeClr val="tx1"/>
                </a:solidFill>
                <a:sym typeface="+mn-ea"/>
              </a:rPr>
              <a:t>Error Detection</a:t>
            </a:r>
            <a:endParaRPr lang="en-US" dirty="0">
              <a:solidFill>
                <a:schemeClr val="tx1"/>
              </a:solidFill>
            </a:endParaRPr>
          </a:p>
          <a:p>
            <a:pPr fontAlgn="base"/>
            <a:r>
              <a:rPr lang="en-US" dirty="0">
                <a:solidFill>
                  <a:schemeClr val="tx1"/>
                </a:solidFill>
                <a:sym typeface="+mn-ea"/>
              </a:rPr>
              <a:t>Error Report</a:t>
            </a:r>
            <a:endParaRPr lang="en-US" dirty="0">
              <a:solidFill>
                <a:schemeClr val="tx1"/>
              </a:solidFill>
            </a:endParaRPr>
          </a:p>
          <a:p>
            <a:pPr fontAlgn="base"/>
            <a:r>
              <a:rPr lang="en-US" dirty="0">
                <a:solidFill>
                  <a:schemeClr val="tx1"/>
                </a:solidFill>
                <a:sym typeface="+mn-ea"/>
              </a:rPr>
              <a:t>Error Recovery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endParaRPr lang="en-US" b="1" dirty="0">
              <a:solidFill>
                <a:schemeClr val="tx1"/>
              </a:solidFill>
            </a:endParaRPr>
          </a:p>
          <a:p>
            <a:pPr algn="just"/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Error Handlers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2095"/>
            <a:ext cx="8229600" cy="4951095"/>
          </a:xfrm>
        </p:spPr>
        <p:txBody>
          <a:bodyPr/>
          <a:lstStyle/>
          <a:p>
            <a:pPr algn="just"/>
            <a:r>
              <a:rPr lang="en-US" dirty="0">
                <a:solidFill>
                  <a:schemeClr val="tx1"/>
                </a:solidFill>
                <a:sym typeface="+mn-ea"/>
              </a:rPr>
              <a:t>It is invoked when a flaw error in the source program is detected. 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>
                <a:solidFill>
                  <a:schemeClr val="tx1"/>
                </a:solidFill>
                <a:sym typeface="+mn-ea"/>
              </a:rPr>
              <a:t>The output of LA is a stream of tokens, which is passed to the next phase, the syntax analyzer or parser. 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>
                <a:solidFill>
                  <a:schemeClr val="tx1"/>
                </a:solidFill>
                <a:sym typeface="+mn-ea"/>
              </a:rPr>
              <a:t>The SA groups the tokens together into syntactic structure called as expression. 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>
                <a:solidFill>
                  <a:schemeClr val="tx1"/>
                </a:solidFill>
                <a:sym typeface="+mn-ea"/>
              </a:rPr>
              <a:t>Expression may further be combined to form statements. 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>
                <a:solidFill>
                  <a:schemeClr val="tx1"/>
                </a:solidFill>
                <a:sym typeface="+mn-ea"/>
              </a:rPr>
              <a:t>The syntactic structure can be regarded as a tree whose leaves are the token called as </a:t>
            </a:r>
            <a:r>
              <a:rPr lang="en-US" b="1" i="1" dirty="0">
                <a:solidFill>
                  <a:schemeClr val="tx1"/>
                </a:solidFill>
                <a:sym typeface="+mn-ea"/>
              </a:rPr>
              <a:t>parse trees</a:t>
            </a:r>
            <a:r>
              <a:rPr lang="en-US" dirty="0">
                <a:solidFill>
                  <a:schemeClr val="tx1"/>
                </a:solidFill>
                <a:sym typeface="+mn-ea"/>
              </a:rPr>
              <a:t>.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Parser functions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2095"/>
            <a:ext cx="8229600" cy="4951095"/>
          </a:xfrm>
        </p:spPr>
        <p:txBody>
          <a:bodyPr/>
          <a:lstStyle/>
          <a:p>
            <a:pPr algn="just"/>
            <a:r>
              <a:rPr lang="en-US" dirty="0">
                <a:solidFill>
                  <a:schemeClr val="tx1"/>
                </a:solidFill>
                <a:sym typeface="+mn-ea"/>
              </a:rPr>
              <a:t>It checks if the tokens from lexical analyzer, occur in pattern that are permitted by the specification for the source language.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>
                <a:solidFill>
                  <a:schemeClr val="tx1"/>
                </a:solidFill>
                <a:sym typeface="+mn-ea"/>
              </a:rPr>
              <a:t> It also imposes on tokens a tree-like structure that is used by the sub-sequent phases of the compiler.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Parser functions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2095"/>
            <a:ext cx="8229600" cy="4951095"/>
          </a:xfrm>
        </p:spPr>
        <p:txBody>
          <a:bodyPr/>
          <a:lstStyle/>
          <a:p>
            <a:pPr algn="just"/>
            <a:r>
              <a:rPr lang="en-US" b="1" dirty="0">
                <a:solidFill>
                  <a:schemeClr val="tx1"/>
                </a:solidFill>
                <a:sym typeface="+mn-ea"/>
              </a:rPr>
              <a:t>Example,</a:t>
            </a:r>
            <a:r>
              <a:rPr lang="en-US" dirty="0">
                <a:solidFill>
                  <a:schemeClr val="tx1"/>
                </a:solidFill>
                <a:sym typeface="+mn-ea"/>
              </a:rPr>
              <a:t> if a program contains the expression A+/B after lexical analysis this expression might appear to the syntax analyzer as the token sequence id+/id. On seeing the /, the syntax analyzer should detect an error situation, because the presence of these two adjacent binary operators violates the formulations rule of an expression.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Parser functions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2095"/>
            <a:ext cx="8229600" cy="4951095"/>
          </a:xfrm>
        </p:spPr>
        <p:txBody>
          <a:bodyPr/>
          <a:lstStyle/>
          <a:p>
            <a:pPr algn="just"/>
            <a:r>
              <a:rPr lang="en-US" sz="2400" dirty="0">
                <a:solidFill>
                  <a:schemeClr val="tx1"/>
                </a:solidFill>
                <a:sym typeface="+mn-ea"/>
              </a:rPr>
              <a:t>Syntax analysis is to make explicit the hierarchical structure of the incoming token stream by identifying which parts of the token stream should be grouped. </a:t>
            </a:r>
            <a:endParaRPr lang="en-US" sz="2400" dirty="0">
              <a:solidFill>
                <a:schemeClr val="tx1"/>
              </a:solidFill>
            </a:endParaRPr>
          </a:p>
          <a:p>
            <a:pPr algn="just"/>
            <a:r>
              <a:rPr lang="en-US" sz="2400" dirty="0">
                <a:solidFill>
                  <a:schemeClr val="tx1"/>
                </a:solidFill>
                <a:sym typeface="+mn-ea"/>
              </a:rPr>
              <a:t>Example, (A/B*C has two possible interpretations.) </a:t>
            </a:r>
            <a:endParaRPr lang="en-US" sz="2400" dirty="0">
              <a:solidFill>
                <a:schemeClr val="tx1"/>
              </a:solidFill>
            </a:endParaRPr>
          </a:p>
          <a:p>
            <a:pPr marL="731520" lvl="1" indent="-457200" algn="just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sym typeface="+mn-ea"/>
              </a:rPr>
              <a:t>divide A by B and then multiply by C or </a:t>
            </a:r>
            <a:endParaRPr lang="en-US" sz="2400" dirty="0">
              <a:solidFill>
                <a:schemeClr val="tx1"/>
              </a:solidFill>
            </a:endParaRPr>
          </a:p>
          <a:p>
            <a:pPr marL="731520" lvl="1" indent="-457200" algn="just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sym typeface="+mn-ea"/>
              </a:rPr>
              <a:t>multiply B by C and then use the result to divide A. </a:t>
            </a:r>
            <a:endParaRPr lang="en-US" sz="2400" dirty="0">
              <a:solidFill>
                <a:schemeClr val="tx1"/>
              </a:solidFill>
            </a:endParaRPr>
          </a:p>
          <a:p>
            <a:pPr algn="just"/>
            <a:r>
              <a:rPr lang="en-US" sz="2400" dirty="0">
                <a:solidFill>
                  <a:schemeClr val="tx1"/>
                </a:solidFill>
                <a:sym typeface="+mn-ea"/>
              </a:rPr>
              <a:t>Each of these two interpretations can be represented in terms of a </a:t>
            </a:r>
            <a:r>
              <a:rPr lang="en-US" sz="2400" b="1" i="1" dirty="0">
                <a:solidFill>
                  <a:schemeClr val="tx1"/>
                </a:solidFill>
                <a:sym typeface="+mn-ea"/>
              </a:rPr>
              <a:t>parse tree</a:t>
            </a:r>
            <a:r>
              <a:rPr lang="en-US" sz="2400" dirty="0">
                <a:solidFill>
                  <a:schemeClr val="tx1"/>
                </a:solidFill>
                <a:sym typeface="+mn-ea"/>
              </a:rPr>
              <a:t>. </a:t>
            </a:r>
            <a:endParaRPr lang="en-US" sz="2400" dirty="0">
              <a:solidFill>
                <a:schemeClr val="tx1"/>
              </a:solidFill>
            </a:endParaRPr>
          </a:p>
          <a:p>
            <a:pPr algn="just"/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Translation of a assignment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2095"/>
            <a:ext cx="8229600" cy="4951095"/>
          </a:xfrm>
        </p:spPr>
        <p:txBody>
          <a:bodyPr/>
          <a:lstStyle/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statement: id := expression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a + b * c;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Translation process converts high-level statement → intermediate code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Grammar for Assignment Statement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stmt → id = expr  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 → expr + term | expr - term | term  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 → term * factor | term / factor | factor  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 → id | num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Translation of a assignment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515" y="1666240"/>
            <a:ext cx="8229600" cy="4555490"/>
          </a:xfrm>
        </p:spPr>
        <p:txBody>
          <a:bodyPr/>
          <a:lstStyle/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 tree For x = a + b * c:</a:t>
            </a:r>
          </a:p>
          <a:p>
            <a:pPr marL="0" indent="0" algn="l">
              <a:lnSpc>
                <a:spcPct val="30000"/>
              </a:lnSpc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=</a:t>
            </a:r>
          </a:p>
          <a:p>
            <a:pPr marL="0" indent="0" algn="l">
              <a:lnSpc>
                <a:spcPct val="30000"/>
              </a:lnSpc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/   \</a:t>
            </a:r>
          </a:p>
          <a:p>
            <a:pPr marL="0" indent="0" algn="l">
              <a:lnSpc>
                <a:spcPct val="30000"/>
              </a:lnSpc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x     +</a:t>
            </a:r>
          </a:p>
          <a:p>
            <a:pPr marL="0" indent="0" algn="l">
              <a:lnSpc>
                <a:spcPct val="30000"/>
              </a:lnSpc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/   \</a:t>
            </a:r>
          </a:p>
          <a:p>
            <a:pPr marL="0" indent="0" algn="l">
              <a:lnSpc>
                <a:spcPct val="30000"/>
              </a:lnSpc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a     *</a:t>
            </a:r>
          </a:p>
          <a:p>
            <a:pPr marL="0" indent="0" algn="l">
              <a:lnSpc>
                <a:spcPct val="30000"/>
              </a:lnSpc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/   \</a:t>
            </a:r>
          </a:p>
          <a:p>
            <a:pPr marL="0" indent="0" algn="l">
              <a:lnSpc>
                <a:spcPct val="30000"/>
              </a:lnSpc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b     c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Intermediate Code (Three-Address Code)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 = b * c  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t2 = a + t1  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 = t2  </a:t>
            </a:r>
          </a:p>
          <a:p>
            <a:pPr algn="just"/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Translation of a assignment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2095"/>
            <a:ext cx="8229600" cy="4951095"/>
          </a:xfrm>
        </p:spPr>
        <p:txBody>
          <a:bodyPr/>
          <a:lstStyle/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Translation Steps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Parse expression → build syntax tree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Post-order traversal → generate temporary variables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Generate 3-address code instructions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no reuse needed, compiler may optimize: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 = b * c  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 = a + t1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8100" y="0"/>
            <a:ext cx="9208474" cy="1115736"/>
            <a:chOff x="0" y="0"/>
            <a:chExt cx="12324746" cy="1115736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10"/>
            <p:cNvSpPr txBox="1"/>
            <p:nvPr/>
          </p:nvSpPr>
          <p:spPr>
            <a:xfrm>
              <a:off x="10212027" y="677208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11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551489" y="350125"/>
              <a:ext cx="261610" cy="261610"/>
            </a:xfrm>
            <a:prstGeom prst="rect">
              <a:avLst/>
            </a:prstGeom>
          </p:spPr>
        </p:pic>
        <p:sp>
          <p:nvSpPr>
            <p:cNvPr id="10" name="TextBox 12"/>
            <p:cNvSpPr txBox="1"/>
            <p:nvPr/>
          </p:nvSpPr>
          <p:spPr>
            <a:xfrm>
              <a:off x="9718342" y="242403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3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09986" y="703941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5926" y="703941"/>
              <a:ext cx="171452" cy="171451"/>
            </a:xfrm>
            <a:prstGeom prst="rect">
              <a:avLst/>
            </a:prstGeom>
          </p:spPr>
        </p:pic>
      </p:grpSp>
      <p:sp>
        <p:nvSpPr>
          <p:cNvPr id="13" name="Title 1"/>
          <p:cNvSpPr txBox="1"/>
          <p:nvPr/>
        </p:nvSpPr>
        <p:spPr>
          <a:xfrm>
            <a:off x="274093" y="14478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FF0000"/>
                </a:solidFill>
              </a:rPr>
              <a:t>Advice…!!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marL="0" indent="0" algn="ctr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en-US" sz="3200" dirty="0">
                <a:solidFill>
                  <a:srgbClr val="002060"/>
                </a:solidFill>
              </a:rPr>
              <a:t>Kindly read the book before and after the lecture, if some terms/ words are not covered in the lecture, if appear in exam it might not appear strange or out of course.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5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5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8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SE10 slides.thmx</Template>
  <TotalTime>0</TotalTime>
  <Words>682</Words>
  <Application>Microsoft Office PowerPoint</Application>
  <PresentationFormat>On-screen Show (4:3)</PresentationFormat>
  <Paragraphs>105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14</vt:i4>
      </vt:variant>
    </vt:vector>
  </HeadingPairs>
  <TitlesOfParts>
    <vt:vector size="30" baseType="lpstr">
      <vt:lpstr>Arial</vt:lpstr>
      <vt:lpstr>Arial Black</vt:lpstr>
      <vt:lpstr>Calibri</vt:lpstr>
      <vt:lpstr>Garamond</vt:lpstr>
      <vt:lpstr>Times New Roman</vt:lpstr>
      <vt:lpstr>Wingdings</vt:lpstr>
      <vt:lpstr>SE10 slides</vt:lpstr>
      <vt:lpstr>1_SE10 slides</vt:lpstr>
      <vt:lpstr>2_SE10 slides</vt:lpstr>
      <vt:lpstr>3_SE10 slides</vt:lpstr>
      <vt:lpstr>4_SE10 slides</vt:lpstr>
      <vt:lpstr>6_SE10 slides</vt:lpstr>
      <vt:lpstr>7_SE10 slides</vt:lpstr>
      <vt:lpstr>15_SE10 slides</vt:lpstr>
      <vt:lpstr>5_SE10 slides</vt:lpstr>
      <vt:lpstr>8_SE10 slides</vt:lpstr>
      <vt:lpstr>BSCS-7th Semester</vt:lpstr>
      <vt:lpstr>PowerPoint Presentation</vt:lpstr>
      <vt:lpstr>PowerPoint Presentation</vt:lpstr>
      <vt:lpstr>Content </vt:lpstr>
      <vt:lpstr>Table Management</vt:lpstr>
      <vt:lpstr>Error Handlers</vt:lpstr>
      <vt:lpstr>Error Handlers</vt:lpstr>
      <vt:lpstr>Parser functions </vt:lpstr>
      <vt:lpstr>Parser functions </vt:lpstr>
      <vt:lpstr>Parser functions </vt:lpstr>
      <vt:lpstr>Translation of a assignment statement</vt:lpstr>
      <vt:lpstr>Translation of a assignment statement</vt:lpstr>
      <vt:lpstr>Translation of a assignment statement</vt:lpstr>
      <vt:lpstr>PowerPoint Presentation</vt:lpstr>
    </vt:vector>
  </TitlesOfParts>
  <Company>St Andrews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 – Chapter 1</dc:title>
  <dc:creator>Ian Sommerville</dc:creator>
  <cp:lastModifiedBy>Muhammad Arham</cp:lastModifiedBy>
  <cp:revision>93</cp:revision>
  <dcterms:created xsi:type="dcterms:W3CDTF">2009-12-29T10:39:00Z</dcterms:created>
  <dcterms:modified xsi:type="dcterms:W3CDTF">2026-07-13T11:48:00Z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FEDDDEFD92E4449B9948A91A1D07A9A5</vt:lpwstr>
  </property>
  <property fmtid="{D5CDD505-2E9C-101B-9397-08002B2CF9AE}" pid="3" name="KSOProductBuildVer">
    <vt:lpwstr>1033-12.2.0.21931</vt:lpwstr>
  </property>
</Properties>
</file>