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44" r:id="rId9"/>
    <p:sldMasterId id="2147483756" r:id="rId10"/>
  </p:sldMasterIdLst>
  <p:notesMasterIdLst>
    <p:notesMasterId r:id="rId30"/>
  </p:notesMasterIdLst>
  <p:handoutMasterIdLst>
    <p:handoutMasterId r:id="rId31"/>
  </p:handoutMasterIdLst>
  <p:sldIdLst>
    <p:sldId id="333" r:id="rId11"/>
    <p:sldId id="334" r:id="rId12"/>
    <p:sldId id="335" r:id="rId13"/>
    <p:sldId id="327" r:id="rId14"/>
    <p:sldId id="339" r:id="rId15"/>
    <p:sldId id="362" r:id="rId16"/>
    <p:sldId id="361" r:id="rId17"/>
    <p:sldId id="351" r:id="rId18"/>
    <p:sldId id="363" r:id="rId19"/>
    <p:sldId id="352" r:id="rId20"/>
    <p:sldId id="364" r:id="rId21"/>
    <p:sldId id="353" r:id="rId22"/>
    <p:sldId id="365" r:id="rId23"/>
    <p:sldId id="366" r:id="rId24"/>
    <p:sldId id="367" r:id="rId25"/>
    <p:sldId id="354" r:id="rId26"/>
    <p:sldId id="369" r:id="rId27"/>
    <p:sldId id="368" r:id="rId28"/>
    <p:sldId id="338" r:id="rId29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4660"/>
  </p:normalViewPr>
  <p:slideViewPr>
    <p:cSldViewPr snapToGrid="0" snapToObjects="1" showGuides="1">
      <p:cViewPr varScale="1">
        <p:scale>
          <a:sx n="68" d="100"/>
          <a:sy n="68" d="100"/>
        </p:scale>
        <p:origin x="144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47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1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DC1E3-3C06-49E0-A248-4FB1E4E47BD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Lexeme is a sequence of characters in the source program that matches the pattern for a token and is identified by the lexical analyzer as an instance of that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4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6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7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2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6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0.xml"/><Relationship Id="rId4" Type="http://schemas.openxmlformats.org/officeDocument/2006/relationships/image" Target="../media/image1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7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7889" y="1229265"/>
            <a:ext cx="7688222" cy="1153160"/>
          </a:xfrm>
        </p:spPr>
        <p:txBody>
          <a:bodyPr>
            <a:noAutofit/>
          </a:bodyPr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BSCS-7</a:t>
            </a:r>
            <a:r>
              <a:rPr lang="en-GB" sz="40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GB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Semester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1233" y="2510119"/>
            <a:ext cx="6716268" cy="3181229"/>
          </a:xfrm>
        </p:spPr>
        <p:txBody>
          <a:bodyPr>
            <a:noAutofit/>
          </a:bodyPr>
          <a:lstStyle/>
          <a:p>
            <a:r>
              <a:rPr lang="en-GB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			</a:t>
            </a:r>
          </a:p>
          <a:p>
            <a:pPr algn="r"/>
            <a:endParaRPr lang="en-GB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M. Arham</a:t>
            </a: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Lecturer</a:t>
            </a: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The University of Faisalabad</a:t>
            </a: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2728" y="0"/>
            <a:ext cx="2708768" cy="36116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72748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0" y="1268195"/>
            <a:ext cx="9144000" cy="1752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bg1"/>
                </a:solidFill>
                <a:latin typeface="Arial Black" panose="020B0A04020102020204" pitchFamily="34" charset="0"/>
              </a:rPr>
              <a:t>Compiler Construction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430692" y="4394682"/>
            <a:ext cx="25958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Lecture 03 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8574" y="3444517"/>
            <a:ext cx="32468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Course Code: CS-411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100" y="0"/>
            <a:ext cx="9288300" cy="1115736"/>
            <a:chOff x="0" y="0"/>
            <a:chExt cx="12324746" cy="111573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10"/>
            <p:cNvSpPr txBox="1"/>
            <p:nvPr/>
          </p:nvSpPr>
          <p:spPr>
            <a:xfrm>
              <a:off x="10212027" y="677208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51489" y="350125"/>
              <a:ext cx="261610" cy="261610"/>
            </a:xfrm>
            <a:prstGeom prst="rect">
              <a:avLst/>
            </a:prstGeom>
          </p:spPr>
        </p:pic>
        <p:sp>
          <p:nvSpPr>
            <p:cNvPr id="9" name="TextBox 12"/>
            <p:cNvSpPr txBox="1"/>
            <p:nvPr/>
          </p:nvSpPr>
          <p:spPr>
            <a:xfrm>
              <a:off x="9718342" y="242403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3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09986" y="703941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5926" y="703941"/>
              <a:ext cx="171452" cy="171451"/>
            </a:xfrm>
            <a:prstGeom prst="rect">
              <a:avLst/>
            </a:prstGeom>
          </p:spPr>
        </p:pic>
      </p:grpSp>
      <p:sp>
        <p:nvSpPr>
          <p:cNvPr id="13" name="Content Placeholder 2"/>
          <p:cNvSpPr txBox="1"/>
          <p:nvPr/>
        </p:nvSpPr>
        <p:spPr>
          <a:xfrm>
            <a:off x="152400" y="2209800"/>
            <a:ext cx="8839200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Credit Hours: </a:t>
            </a:r>
            <a:r>
              <a:rPr lang="en-US" b="1" dirty="0">
                <a:solidFill>
                  <a:srgbClr val="FF0000"/>
                </a:solidFill>
              </a:rPr>
              <a:t>3(3-0)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Theory: </a:t>
            </a:r>
            <a:r>
              <a:rPr lang="en-US" b="1" dirty="0">
                <a:solidFill>
                  <a:srgbClr val="FF0000"/>
                </a:solidFill>
              </a:rPr>
              <a:t>Cr. Hr. 03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Practical: </a:t>
            </a:r>
            <a:r>
              <a:rPr lang="en-US" b="1" dirty="0">
                <a:solidFill>
                  <a:srgbClr val="FF0000"/>
                </a:solidFill>
              </a:rPr>
              <a:t>Cr. Hr. 00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Content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7965"/>
            <a:ext cx="8229600" cy="5121275"/>
          </a:xfrm>
        </p:spPr>
        <p:txBody>
          <a:bodyPr/>
          <a:lstStyle/>
          <a:p>
            <a:pPr algn="just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Analysis (LA)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 discussed inWeek 2 lecture 5</a:t>
            </a:r>
          </a:p>
          <a:p>
            <a:pPr algn="just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 Analysis (SA)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Will discussed in Week 3 lecture 9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Code Generation (ICG)</a:t>
            </a:r>
          </a:p>
          <a:p>
            <a:pPr algn="just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Generation</a:t>
            </a:r>
          </a:p>
          <a:p>
            <a:pPr algn="just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Optimization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Lexical Analysis (LA)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2095"/>
            <a:ext cx="8229600" cy="4951095"/>
          </a:xfrm>
        </p:spPr>
        <p:txBody>
          <a:bodyPr/>
          <a:lstStyle/>
          <a:p>
            <a:pPr algn="just"/>
            <a:r>
              <a:rPr lang="en-US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1st phase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compiler 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of </a:t>
            </a:r>
            <a:r>
              <a:rPr lang="en-US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end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compiler 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Reads the source program as a file of characters and divide them up into</a:t>
            </a:r>
            <a:r>
              <a:rPr lang="en-US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tokens</a:t>
            </a:r>
          </a:p>
          <a:p>
            <a:pPr algn="just"/>
            <a:r>
              <a:rPr lang="en-US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recognized using </a:t>
            </a:r>
            <a:r>
              <a:rPr lang="en-US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Finite Automata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Transition Diagrams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Lexical Analysis (LA)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1450"/>
            <a:ext cx="8229600" cy="5031740"/>
          </a:xfrm>
        </p:spPr>
        <p:txBody>
          <a:bodyPr/>
          <a:lstStyle/>
          <a:p>
            <a:pPr algn="just"/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vital functions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8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Analyzer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are: </a:t>
            </a:r>
          </a:p>
          <a:p>
            <a:pPr lvl="1" algn="just"/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Seprate tokens from program</a:t>
            </a:r>
          </a:p>
          <a:p>
            <a:pPr lvl="1" algn="just"/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tokens into symbol table</a:t>
            </a:r>
          </a:p>
          <a:p>
            <a:pPr lvl="1" algn="just"/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Eliminates whitespaces, comments, newline characters, etc... from string.</a:t>
            </a:r>
          </a:p>
          <a:p>
            <a:pPr lvl="1" algn="just"/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 tokens to parser (pass their integer no./code to parser)</a:t>
            </a:r>
          </a:p>
          <a:p>
            <a:pPr lvl="1" algn="just"/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track of line numbers (for error handling)</a:t>
            </a:r>
          </a:p>
          <a:p>
            <a:pPr lvl="1" algn="just"/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 of Macros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Lexical Analysis (LA)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7</a:t>
            </a:fld>
            <a:endParaRPr lang="en-US"/>
          </a:p>
        </p:txBody>
      </p:sp>
      <p:pic>
        <p:nvPicPr>
          <p:cNvPr id="6" name="Content Placeholder 5" descr="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9105" y="2046605"/>
            <a:ext cx="8253730" cy="3180715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Syntax Analysis (SA)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77010"/>
            <a:ext cx="8229600" cy="4996180"/>
          </a:xfrm>
        </p:spPr>
        <p:txBody>
          <a:bodyPr/>
          <a:lstStyle/>
          <a:p>
            <a:pPr algn="just"/>
            <a:r>
              <a:rPr lang="en-US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 Analysis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second phase of the compiler design process after </a:t>
            </a:r>
            <a:r>
              <a:rPr lang="en-US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Laxical analysis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which the given input string is checked for the confirmation of rules and structure of the formal grammer.</a:t>
            </a:r>
          </a:p>
          <a:p>
            <a:pPr algn="just"/>
            <a:r>
              <a:rPr lang="en-US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 analyzer or Parser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analyses the syntactical structure and checks if the given input is in the </a:t>
            </a:r>
            <a:r>
              <a:rPr lang="en-US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correct syntax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programming language or not.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does so by getting the input from the tokens and building a data structure, called a syntax tree or parse tree.</a:t>
            </a:r>
          </a:p>
          <a:p>
            <a:pPr algn="just"/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Syntax Analysis (SA)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1915"/>
            <a:ext cx="8229600" cy="5121275"/>
          </a:xfrm>
        </p:spPr>
        <p:txBody>
          <a:bodyPr/>
          <a:lstStyle/>
          <a:p>
            <a:pPr marL="0" indent="0" algn="just">
              <a:buNone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4" name="Object 3"/>
          <p:cNvGraphicFramePr/>
          <p:nvPr>
            <p:extLst>
              <p:ext uri="{D42A27DB-BD31-4B8C-83A1-F6EECF244321}">
                <p14:modId xmlns:p14="http://schemas.microsoft.com/office/powerpoint/2010/main" val="1023928071"/>
              </p:ext>
            </p:extLst>
          </p:nvPr>
        </p:nvGraphicFramePr>
        <p:xfrm>
          <a:off x="517275" y="1469389"/>
          <a:ext cx="7533249" cy="4678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762250" imgH="2247900" progId="Paint.Picture">
                  <p:embed/>
                </p:oleObj>
              </mc:Choice>
              <mc:Fallback>
                <p:oleObj r:id="rId3" imgW="2762250" imgH="2247900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7275" y="1469389"/>
                        <a:ext cx="7533249" cy="46780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Intermediate Code Generation (ICG)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5580"/>
            <a:ext cx="8229600" cy="5007610"/>
          </a:xfrm>
        </p:spPr>
        <p:txBody>
          <a:bodyPr/>
          <a:lstStyle/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During the </a:t>
            </a:r>
            <a:r>
              <a:rPr lang="en-US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translation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a </a:t>
            </a:r>
            <a:r>
              <a:rPr lang="en-US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program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into </a:t>
            </a:r>
            <a:r>
              <a:rPr lang="en-US" altLang="en-US" sz="2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code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a </a:t>
            </a:r>
            <a:r>
              <a:rPr lang="en-US" alt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machine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compiler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 generate a </a:t>
            </a:r>
            <a:r>
              <a:rPr lang="en-US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middle-level language code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 is known as </a:t>
            </a:r>
            <a:r>
              <a:rPr lang="en-US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code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4" name="Object 3"/>
          <p:cNvGraphicFramePr/>
          <p:nvPr/>
        </p:nvGraphicFramePr>
        <p:xfrm>
          <a:off x="909955" y="2842895"/>
          <a:ext cx="7437120" cy="272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057650" imgH="1171575" progId="Paint.Picture">
                  <p:embed/>
                </p:oleObj>
              </mc:Choice>
              <mc:Fallback>
                <p:oleObj r:id="rId3" imgW="4057650" imgH="1171575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9955" y="2842895"/>
                        <a:ext cx="7437120" cy="2727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Intermediate Code Generation (ICG)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5580"/>
            <a:ext cx="8229600" cy="5007610"/>
          </a:xfrm>
        </p:spPr>
        <p:txBody>
          <a:bodyPr/>
          <a:lstStyle/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Translates source → Intermediate Representation (IR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 algn="ctr"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Expression: a + b * c</a:t>
            </a:r>
          </a:p>
          <a:p>
            <a:pPr marL="0" indent="0" algn="ctr">
              <a:buNone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t1 = b * c</a:t>
            </a:r>
          </a:p>
          <a:p>
            <a:pPr marL="0" indent="0" algn="ctr">
              <a:buNone/>
            </a:pPr>
            <a:r>
              <a:rPr lang="en-US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t2 = a + t1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Code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5580"/>
            <a:ext cx="8229600" cy="5007610"/>
          </a:xfrm>
        </p:spPr>
        <p:txBody>
          <a:bodyPr/>
          <a:lstStyle/>
          <a:p>
            <a:pPr algn="just"/>
            <a:r>
              <a:rPr lang="en-US" altLang="en-US" sz="2400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Converts IR → Target Machine Code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for: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Instruction selection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allocation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addressing modes</a:t>
            </a:r>
          </a:p>
          <a:p>
            <a:pPr algn="just"/>
            <a:r>
              <a:rPr lang="en-US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of Code Generator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Intermediate Representation (IR)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Assembly / Machine Code</a:t>
            </a:r>
          </a:p>
          <a:p>
            <a:pPr algn="just"/>
            <a:r>
              <a:rPr lang="en-US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Correctness (faithful translation)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Efficiency (optimized for speed/size)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 (readable assembly when needed)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Code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5580"/>
            <a:ext cx="8229600" cy="500761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en-US" sz="2400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Code Generation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number of registers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Instruction set variations across hardware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Trade-off between speed &amp; size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complex control structures (loops, branches)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Code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5580"/>
            <a:ext cx="8229600" cy="5007610"/>
          </a:xfrm>
        </p:spPr>
        <p:txBody>
          <a:bodyPr/>
          <a:lstStyle/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Code Generation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Expression: a + b * c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Code </a:t>
            </a:r>
            <a:r>
              <a:rPr lang="en-US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(IR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 = b * c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t2 = a + t1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Code (</a:t>
            </a:r>
            <a:r>
              <a:rPr lang="en-US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Assembly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 R1, b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 R1, c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R1, 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Code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630"/>
            <a:ext cx="8229600" cy="4988560"/>
          </a:xfrm>
        </p:spPr>
        <p:txBody>
          <a:bodyPr/>
          <a:lstStyle/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of improving intermediate or machine code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 Make code faster, smaller, and more efficient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Must not change program meaning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Goals of Code Optimization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execution time (speed)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memory usage (space)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power efficiency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 correctness of the program</a:t>
            </a:r>
          </a:p>
          <a:p>
            <a:pPr algn="just"/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Code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5580"/>
            <a:ext cx="8229600" cy="5007610"/>
          </a:xfrm>
        </p:spPr>
        <p:txBody>
          <a:bodyPr/>
          <a:lstStyle/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Code Optimization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Machine-Independent Optimization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on Intermediate Representation (IR)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Dead code elimination, loop optimizations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Machine-Dependent Optimization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target architecture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Register allocation, instruction scheduling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Code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1915"/>
            <a:ext cx="8229600" cy="5121275"/>
          </a:xfrm>
        </p:spPr>
        <p:txBody>
          <a:bodyPr/>
          <a:lstStyle/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Optimization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Expression: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(a * b) + (a * b)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Optimization (IR):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 = a * b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t2 = a * b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 = t1 + t2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Optimization (CSE):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 = a * b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 = t1 + t1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Code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2730"/>
            <a:ext cx="8229600" cy="495046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of Code Optimization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execution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Smaller executable size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resource usage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user experience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100" y="0"/>
            <a:ext cx="9208474" cy="1115736"/>
            <a:chOff x="0" y="0"/>
            <a:chExt cx="12324746" cy="1115736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10"/>
            <p:cNvSpPr txBox="1"/>
            <p:nvPr/>
          </p:nvSpPr>
          <p:spPr>
            <a:xfrm>
              <a:off x="10212027" y="677208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11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51489" y="350125"/>
              <a:ext cx="261610" cy="261610"/>
            </a:xfrm>
            <a:prstGeom prst="rect">
              <a:avLst/>
            </a:prstGeom>
          </p:spPr>
        </p:pic>
        <p:sp>
          <p:nvSpPr>
            <p:cNvPr id="10" name="TextBox 12"/>
            <p:cNvSpPr txBox="1"/>
            <p:nvPr/>
          </p:nvSpPr>
          <p:spPr>
            <a:xfrm>
              <a:off x="9718342" y="242403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3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09986" y="703941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5926" y="703941"/>
              <a:ext cx="171452" cy="171451"/>
            </a:xfrm>
            <a:prstGeom prst="rect">
              <a:avLst/>
            </a:prstGeom>
          </p:spPr>
        </p:pic>
      </p:grpSp>
      <p:sp>
        <p:nvSpPr>
          <p:cNvPr id="13" name="Title 1"/>
          <p:cNvSpPr txBox="1"/>
          <p:nvPr/>
        </p:nvSpPr>
        <p:spPr>
          <a:xfrm>
            <a:off x="274093" y="14478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FF0000"/>
                </a:solidFill>
              </a:rPr>
              <a:t>Advice…!!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marL="0" indent="0" algn="ctr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en-US" sz="3200" dirty="0">
                <a:solidFill>
                  <a:srgbClr val="002060"/>
                </a:solidFill>
              </a:rPr>
              <a:t>Kindly read the book before and after the lecture, if some terms/ words are not covered in the lecture, if appear in exam it might not appear strange or out of course.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SE10 slides.thmx</Template>
  <TotalTime>3</TotalTime>
  <Words>762</Words>
  <Application>Microsoft Office PowerPoint</Application>
  <PresentationFormat>On-screen Show (4:3)</PresentationFormat>
  <Paragraphs>151</Paragraphs>
  <Slides>19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10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6" baseType="lpstr">
      <vt:lpstr>Arial</vt:lpstr>
      <vt:lpstr>Arial Black</vt:lpstr>
      <vt:lpstr>Calibri</vt:lpstr>
      <vt:lpstr>Garamond</vt:lpstr>
      <vt:lpstr>Times New Roman</vt:lpstr>
      <vt:lpstr>Wingdings</vt:lpstr>
      <vt:lpstr>SE10 slides</vt:lpstr>
      <vt:lpstr>1_SE10 slides</vt:lpstr>
      <vt:lpstr>2_SE10 slides</vt:lpstr>
      <vt:lpstr>3_SE10 slides</vt:lpstr>
      <vt:lpstr>4_SE10 slides</vt:lpstr>
      <vt:lpstr>5_SE10 slides</vt:lpstr>
      <vt:lpstr>6_SE10 slides</vt:lpstr>
      <vt:lpstr>7_SE10 slides</vt:lpstr>
      <vt:lpstr>8_SE10 slides</vt:lpstr>
      <vt:lpstr>9_SE10 slides</vt:lpstr>
      <vt:lpstr>Bitmap Image</vt:lpstr>
      <vt:lpstr>BSCS-7th Semester</vt:lpstr>
      <vt:lpstr>PowerPoint Presentation</vt:lpstr>
      <vt:lpstr>PowerPoint Presentation</vt:lpstr>
      <vt:lpstr>Content </vt:lpstr>
      <vt:lpstr>Lexical Analysis (LA)</vt:lpstr>
      <vt:lpstr>Lexical Analysis (LA)</vt:lpstr>
      <vt:lpstr>Lexical Analysis (LA)</vt:lpstr>
      <vt:lpstr>Syntax Analysis (SA)</vt:lpstr>
      <vt:lpstr>Syntax Analysis (SA)</vt:lpstr>
      <vt:lpstr>Intermediate Code Generation (ICG)</vt:lpstr>
      <vt:lpstr>Intermediate Code Generation (ICG)</vt:lpstr>
      <vt:lpstr>Code Generation</vt:lpstr>
      <vt:lpstr>Code Generation</vt:lpstr>
      <vt:lpstr>Code Generation</vt:lpstr>
      <vt:lpstr>Code Optimization</vt:lpstr>
      <vt:lpstr>Code Optimization</vt:lpstr>
      <vt:lpstr>Code Optimization</vt:lpstr>
      <vt:lpstr>Code Optimization</vt:lpstr>
      <vt:lpstr>PowerPoint Presentation</vt:lpstr>
    </vt:vector>
  </TitlesOfParts>
  <Company>St Andrews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 – Chapter 1</dc:title>
  <dc:creator>Ian Sommerville</dc:creator>
  <cp:lastModifiedBy>Muhammad Arham</cp:lastModifiedBy>
  <cp:revision>90</cp:revision>
  <dcterms:created xsi:type="dcterms:W3CDTF">2009-12-29T10:39:00Z</dcterms:created>
  <dcterms:modified xsi:type="dcterms:W3CDTF">2026-07-13T11:47:34Z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FEDDDEFD92E4449B9948A91A1D07A9A5</vt:lpwstr>
  </property>
  <property fmtid="{D5CDD505-2E9C-101B-9397-08002B2CF9AE}" pid="3" name="KSOProductBuildVer">
    <vt:lpwstr>1033-12.2.0.21931</vt:lpwstr>
  </property>
</Properties>
</file>