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26"/>
  </p:notesMasterIdLst>
  <p:sldIdLst>
    <p:sldId id="273" r:id="rId4"/>
    <p:sldId id="943" r:id="rId5"/>
    <p:sldId id="944" r:id="rId6"/>
    <p:sldId id="945" r:id="rId7"/>
    <p:sldId id="946" r:id="rId8"/>
    <p:sldId id="947" r:id="rId9"/>
    <p:sldId id="948" r:id="rId10"/>
    <p:sldId id="949" r:id="rId11"/>
    <p:sldId id="950" r:id="rId12"/>
    <p:sldId id="951" r:id="rId13"/>
    <p:sldId id="952" r:id="rId14"/>
    <p:sldId id="953" r:id="rId15"/>
    <p:sldId id="954" r:id="rId16"/>
    <p:sldId id="955" r:id="rId17"/>
    <p:sldId id="956" r:id="rId18"/>
    <p:sldId id="957" r:id="rId19"/>
    <p:sldId id="958" r:id="rId20"/>
    <p:sldId id="959" r:id="rId21"/>
    <p:sldId id="960" r:id="rId22"/>
    <p:sldId id="961" r:id="rId23"/>
    <p:sldId id="962" r:id="rId24"/>
    <p:sldId id="963" r:id="rId2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2140" autoAdjust="0"/>
  </p:normalViewPr>
  <p:slideViewPr>
    <p:cSldViewPr snapToGrid="0">
      <p:cViewPr varScale="1">
        <p:scale>
          <a:sx n="51" d="100"/>
          <a:sy n="51" d="100"/>
        </p:scale>
        <p:origin x="29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Family Educational Rights and Privacy Act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2658C-66DA-4116-8E6C-1579936CD6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2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2193758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ko-KR" sz="4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altLang="ko-KR" sz="4000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br>
              <a:rPr lang="en-US" altLang="ko-KR" sz="4000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Impacts of CIA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US"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7929E-815A-49D4-B598-146B7654AB5A}"/>
              </a:ext>
            </a:extLst>
          </p:cNvPr>
          <p:cNvSpPr txBox="1"/>
          <p:nvPr/>
        </p:nvSpPr>
        <p:spPr>
          <a:xfrm>
            <a:off x="6830825" y="4986513"/>
            <a:ext cx="447338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E</a:t>
            </a:r>
            <a:r>
              <a:rPr lang="en-US" dirty="0" smtClean="0"/>
              <a:t>xamples </a:t>
            </a:r>
            <a:r>
              <a:rPr lang="en-US" dirty="0"/>
              <a:t>of applications illustrating security breach impacts, categorized into three levels based on FIPS PUB 199:</a:t>
            </a:r>
          </a:p>
          <a:p>
            <a:pPr algn="just"/>
            <a:r>
              <a:rPr lang="en-US" b="1" dirty="0"/>
              <a:t>Low Impact:</a:t>
            </a:r>
            <a:r>
              <a:rPr lang="en-US" dirty="0"/>
              <a:t> Minimal adverse effects, such as slight mission capability reduction, minor asset damage, small financial loss, or minor harm to individuals</a:t>
            </a:r>
            <a:r>
              <a:rPr lang="en-US" dirty="0" smtClean="0"/>
              <a:t>.</a:t>
            </a:r>
            <a:endParaRPr lang="en-US" b="1" dirty="0"/>
          </a:p>
          <a:p>
            <a:r>
              <a:rPr lang="en-US" b="1" dirty="0"/>
              <a:t>Moderate Impact:</a:t>
            </a:r>
            <a:r>
              <a:rPr lang="en-US" dirty="0"/>
              <a:t> Serious adverse effects, including significant mission degradation, notable asset damage, considerable financial loss, or significant harm (but not life-threatening).</a:t>
            </a:r>
          </a:p>
          <a:p>
            <a:r>
              <a:rPr lang="en-US" b="1" dirty="0"/>
              <a:t>High Impact:</a:t>
            </a:r>
            <a:r>
              <a:rPr lang="en-US" dirty="0"/>
              <a:t> Severe consequences, such as complete mission failure, major asset damage, substantial financial loss, or life-threatening harm.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3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4"/>
                </a:solidFill>
              </a:rPr>
              <a:t>Security Aspects of Information Assets</a:t>
            </a:r>
            <a:br>
              <a:rPr lang="en-US" sz="2800" b="1" dirty="0">
                <a:solidFill>
                  <a:schemeClr val="accent4"/>
                </a:solidFill>
              </a:rPr>
            </a:b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Confidentiality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/>
              <a:t>High:</a:t>
            </a:r>
            <a:r>
              <a:rPr lang="en-US" dirty="0"/>
              <a:t> Student grade information is highly confidential and protected by </a:t>
            </a:r>
            <a:r>
              <a:rPr lang="en-US" dirty="0" smtClean="0"/>
              <a:t>FERPA (</a:t>
            </a:r>
            <a:r>
              <a:rPr lang="en-US" dirty="0"/>
              <a:t>Family Educational Rights and Privacy </a:t>
            </a:r>
            <a:r>
              <a:rPr lang="en-US" dirty="0" smtClean="0"/>
              <a:t>Act). </a:t>
            </a:r>
            <a:r>
              <a:rPr lang="en-US" dirty="0"/>
              <a:t>Only students, parents, and authorized staff can access it.</a:t>
            </a:r>
          </a:p>
          <a:p>
            <a:r>
              <a:rPr lang="en-US" b="1" dirty="0"/>
              <a:t>Moderate:</a:t>
            </a:r>
            <a:r>
              <a:rPr lang="en-US" dirty="0"/>
              <a:t> Student enrollment data is moderately confidential, seen by more people but still protected by FERPA.</a:t>
            </a:r>
          </a:p>
          <a:p>
            <a:r>
              <a:rPr lang="en-US" b="1" dirty="0"/>
              <a:t>Low:</a:t>
            </a:r>
            <a:r>
              <a:rPr lang="en-US" dirty="0"/>
              <a:t> Directory information (student/faculty lists) is publicly available and often posted online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94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Integrity:</a:t>
            </a:r>
            <a:endParaRPr lang="en-US" dirty="0"/>
          </a:p>
          <a:p>
            <a:r>
              <a:rPr lang="en-US" b="1" dirty="0"/>
              <a:t>High:</a:t>
            </a:r>
            <a:r>
              <a:rPr lang="en-US" dirty="0"/>
              <a:t> Hospital patient allergy records must be accurate to prevent harm or legal issues. Any falsification must be traceable and quickly corrected.</a:t>
            </a:r>
          </a:p>
          <a:p>
            <a:r>
              <a:rPr lang="en-US" b="1" dirty="0"/>
              <a:t>Moderate:</a:t>
            </a:r>
            <a:r>
              <a:rPr lang="en-US" dirty="0"/>
              <a:t> Online forums may suffer from fake posts or defacement, but the impact is limited to user experience and minor financial loss.</a:t>
            </a:r>
          </a:p>
          <a:p>
            <a:r>
              <a:rPr lang="en-US" b="1" dirty="0"/>
              <a:t>Low:</a:t>
            </a:r>
            <a:r>
              <a:rPr lang="en-US" dirty="0"/>
              <a:t> Anonymous online polls are often manipulated but are not meant for serious decision-making.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9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Availability</a:t>
            </a:r>
            <a:r>
              <a:rPr lang="en-US" b="1" dirty="0" smtClean="0"/>
              <a:t>:</a:t>
            </a:r>
          </a:p>
          <a:p>
            <a:r>
              <a:rPr lang="en-US" b="1" dirty="0"/>
              <a:t>High:</a:t>
            </a:r>
            <a:r>
              <a:rPr lang="en-US" dirty="0"/>
              <a:t> Authentication systems for critical services must always be available, as downtime leads to major financial and productivity losses.</a:t>
            </a:r>
          </a:p>
          <a:p>
            <a:r>
              <a:rPr lang="en-US" b="1" dirty="0"/>
              <a:t>Moderate:</a:t>
            </a:r>
            <a:r>
              <a:rPr lang="en-US" dirty="0"/>
              <a:t> A university’s public website, while important, is not critical, though downtime may cause inconvenience.</a:t>
            </a:r>
          </a:p>
          <a:p>
            <a:r>
              <a:rPr lang="en-US" b="1" dirty="0"/>
              <a:t>Low:</a:t>
            </a:r>
            <a:r>
              <a:rPr lang="en-US" dirty="0"/>
              <a:t> An online phone directory is useful but not essential, as alternative sources exist.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76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Challenges of Computer Security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Complexity</a:t>
            </a:r>
            <a:r>
              <a:rPr lang="en-US" b="1" dirty="0"/>
              <a:t>:</a:t>
            </a:r>
            <a:r>
              <a:rPr lang="en-US" dirty="0"/>
              <a:t> Security requirements are straightforward (e.g., confidentiality, integrity), but the mechanisms are complex and require subtle reasoning.</a:t>
            </a:r>
          </a:p>
          <a:p>
            <a:r>
              <a:rPr lang="en-US" b="1" dirty="0"/>
              <a:t>Unpredictable Attacks:</a:t>
            </a:r>
            <a:r>
              <a:rPr lang="en-US" dirty="0"/>
              <a:t> Attackers often exploit unexpected weaknesses in security mechanisms.</a:t>
            </a:r>
          </a:p>
          <a:p>
            <a:r>
              <a:rPr lang="en-US" b="1" dirty="0"/>
              <a:t>Counterintuitive Measures:</a:t>
            </a:r>
            <a:r>
              <a:rPr lang="en-US" dirty="0"/>
              <a:t> Security mechanisms can seem excessive until threats are fully understood.</a:t>
            </a:r>
          </a:p>
          <a:p>
            <a:r>
              <a:rPr lang="en-US" b="1" dirty="0"/>
              <a:t>Placement Decisions:</a:t>
            </a:r>
            <a:r>
              <a:rPr lang="en-US" dirty="0"/>
              <a:t> Determining where and at what layers (e.g., TCP/IP) to implement security is critical.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2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704" y="1515909"/>
            <a:ext cx="10515600" cy="4351339"/>
          </a:xfrm>
        </p:spPr>
        <p:txBody>
          <a:bodyPr/>
          <a:lstStyle/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Key </a:t>
            </a:r>
            <a:r>
              <a:rPr lang="en-US" b="1" dirty="0"/>
              <a:t>Management:</a:t>
            </a:r>
            <a:r>
              <a:rPr lang="en-US" dirty="0"/>
              <a:t> Security depends on secret information (e.g., encryption keys) and reliable communication protocols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Battle </a:t>
            </a:r>
            <a:r>
              <a:rPr lang="en-US" b="1" dirty="0"/>
              <a:t>of Wits:</a:t>
            </a:r>
            <a:r>
              <a:rPr lang="en-US" dirty="0"/>
              <a:t> Attackers need only one weakness, while defenders must eliminate all vulnerabilities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Perceived </a:t>
            </a:r>
            <a:r>
              <a:rPr lang="en-US" b="1" dirty="0"/>
              <a:t>Value:</a:t>
            </a:r>
            <a:r>
              <a:rPr lang="en-US" dirty="0"/>
              <a:t> Security investments are often undervalued until a breach occurs.</a:t>
            </a:r>
          </a:p>
        </p:txBody>
      </p:sp>
    </p:spTree>
    <p:extLst>
      <p:ext uri="{BB962C8B-B14F-4D97-AF65-F5344CB8AC3E}">
        <p14:creationId xmlns:p14="http://schemas.microsoft.com/office/powerpoint/2010/main" val="293847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Constant Monitoring:</a:t>
            </a:r>
            <a:r>
              <a:rPr lang="en-US" dirty="0"/>
              <a:t> Regular monitoring is challenging in fast-paced environments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Afterthought</a:t>
            </a:r>
            <a:r>
              <a:rPr lang="en-US" b="1" dirty="0"/>
              <a:t>:</a:t>
            </a:r>
            <a:r>
              <a:rPr lang="en-US" dirty="0"/>
              <a:t> Security is often added after system design, not integrated from the start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Efficiency </a:t>
            </a:r>
            <a:r>
              <a:rPr lang="en-US" b="1" dirty="0"/>
              <a:t>vs. Security:</a:t>
            </a:r>
            <a:r>
              <a:rPr lang="en-US" dirty="0"/>
              <a:t> Strong security is sometimes seen as a barrier to usability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940220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75" y="203200"/>
            <a:ext cx="10515600" cy="1325563"/>
          </a:xfrm>
        </p:spPr>
        <p:txBody>
          <a:bodyPr/>
          <a:lstStyle/>
          <a:p>
            <a:pPr algn="ctr"/>
            <a:r>
              <a:rPr lang="en-US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Infomation system</a:t>
            </a:r>
            <a:endParaRPr lang="en-US" altLang="en-US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Components</a:t>
            </a:r>
            <a:endParaRPr lang="en-US" altLang="en-US" sz="3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endParaRPr lang="en-US" sz="3200" b="1" dirty="0" smtClean="0"/>
          </a:p>
        </p:txBody>
      </p:sp>
      <p:pic>
        <p:nvPicPr>
          <p:cNvPr id="6149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25" y="1991995"/>
            <a:ext cx="5776595" cy="45199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0" name="Text Box 5"/>
          <p:cNvSpPr txBox="1"/>
          <p:nvPr/>
        </p:nvSpPr>
        <p:spPr>
          <a:xfrm>
            <a:off x="971550" y="2708910"/>
            <a:ext cx="2087563" cy="30861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dirty="0">
                <a:latin typeface="Aptos" pitchFamily="34" charset="0"/>
              </a:rPr>
              <a:t>Hardware</a:t>
            </a:r>
          </a:p>
          <a:p>
            <a:pPr eaLnBrk="1" hangingPunct="1"/>
            <a:r>
              <a:rPr lang="en-US" altLang="en-US" sz="2400" dirty="0">
                <a:latin typeface="Aptos" pitchFamily="34" charset="0"/>
              </a:rPr>
              <a:t>Networks</a:t>
            </a:r>
          </a:p>
          <a:p>
            <a:pPr eaLnBrk="1" hangingPunct="1"/>
            <a:r>
              <a:rPr lang="en-US" altLang="en-US" sz="2400" dirty="0">
                <a:latin typeface="Aptos" pitchFamily="34" charset="0"/>
              </a:rPr>
              <a:t>Software</a:t>
            </a:r>
          </a:p>
          <a:p>
            <a:pPr eaLnBrk="1" hangingPunct="1"/>
            <a:r>
              <a:rPr lang="en-US" altLang="en-US" sz="2400" dirty="0">
                <a:latin typeface="Aptos" pitchFamily="34" charset="0"/>
              </a:rPr>
              <a:t>Data</a:t>
            </a:r>
          </a:p>
          <a:p>
            <a:pPr eaLnBrk="1" hangingPunct="1"/>
            <a:r>
              <a:rPr lang="en-US" altLang="en-US" sz="2400" dirty="0">
                <a:latin typeface="Aptos" pitchFamily="34" charset="0"/>
              </a:rPr>
              <a:t>Procedures</a:t>
            </a:r>
          </a:p>
          <a:p>
            <a:pPr eaLnBrk="1" hangingPunct="1"/>
            <a:r>
              <a:rPr lang="en-US" altLang="en-US" sz="2400" dirty="0">
                <a:latin typeface="Aptos" pitchFamily="34" charset="0"/>
              </a:rPr>
              <a:t>Policies</a:t>
            </a:r>
          </a:p>
          <a:p>
            <a:pPr eaLnBrk="1" hangingPunct="1"/>
            <a:r>
              <a:rPr lang="en-US" altLang="en-US" sz="2400" dirty="0">
                <a:latin typeface="Aptos" pitchFamily="34" charset="0"/>
              </a:rPr>
              <a:t>Personnel</a:t>
            </a:r>
          </a:p>
        </p:txBody>
      </p:sp>
    </p:spTree>
    <p:extLst>
      <p:ext uri="{BB962C8B-B14F-4D97-AF65-F5344CB8AC3E}">
        <p14:creationId xmlns:p14="http://schemas.microsoft.com/office/powerpoint/2010/main" val="2928862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98425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>
                <a:sym typeface="+mn-ea"/>
              </a:rPr>
              <a:t>Information Security 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1155"/>
            <a:ext cx="10515600" cy="4556125"/>
          </a:xfrm>
        </p:spPr>
        <p:txBody>
          <a:bodyPr>
            <a:normAutofit fontScale="90000" lnSpcReduction="10000"/>
          </a:bodyPr>
          <a:lstStyle/>
          <a:p>
            <a:pPr algn="just" eaLnBrk="1" hangingPunct="1">
              <a:buFont typeface="Wingdings" panose="05000000000000000000" charset="0"/>
              <a:buChar char="q"/>
            </a:pPr>
            <a:r>
              <a:rPr lang="en-US" altLang="en-US" sz="2800" dirty="0">
                <a:sym typeface="+mn-ea"/>
              </a:rPr>
              <a:t>The concept of computer security has been replaced by the concept of information security</a:t>
            </a:r>
          </a:p>
          <a:p>
            <a:pPr marL="0" indent="0" algn="just" eaLnBrk="1" hangingPunct="1">
              <a:buFont typeface="Wingdings" panose="05000000000000000000" charset="0"/>
              <a:buNone/>
            </a:pPr>
            <a:endParaRPr lang="en-US" altLang="en-US" sz="2800" dirty="0">
              <a:sym typeface="+mn-ea"/>
            </a:endParaRPr>
          </a:p>
          <a:p>
            <a:pPr algn="just" eaLnBrk="1" hangingPunct="1">
              <a:buFont typeface="Wingdings" panose="05000000000000000000" charset="0"/>
              <a:buChar char="q"/>
            </a:pPr>
            <a:r>
              <a:rPr lang="en-US" altLang="en-US" sz="2800" dirty="0">
                <a:sym typeface="+mn-ea"/>
              </a:rPr>
              <a:t>Covers a broad range of issues </a:t>
            </a:r>
          </a:p>
          <a:p>
            <a:pPr marL="0" indent="0" algn="just" eaLnBrk="1" hangingPunct="1">
              <a:buFont typeface="Wingdings" panose="05000000000000000000" charset="0"/>
              <a:buNone/>
            </a:pPr>
            <a:endParaRPr lang="en-US" altLang="en-US" sz="2800" dirty="0">
              <a:sym typeface="+mn-ea"/>
            </a:endParaRPr>
          </a:p>
          <a:p>
            <a:pPr algn="just" eaLnBrk="1" hangingPunct="1">
              <a:buFont typeface="Wingdings" panose="05000000000000000000" charset="0"/>
              <a:buChar char="q"/>
            </a:pPr>
            <a:r>
              <a:rPr lang="en-US" altLang="en-US" sz="2800" dirty="0">
                <a:sym typeface="+mn-ea"/>
              </a:rPr>
              <a:t>From protection of data to protection of human resources</a:t>
            </a:r>
            <a:endParaRPr lang="en-US" altLang="en-US" sz="2800" dirty="0"/>
          </a:p>
          <a:p>
            <a:pPr lvl="2" algn="just" eaLnBrk="1" hangingPunct="1">
              <a:buFont typeface="Wingdings" panose="05000000000000000000" charset="0"/>
              <a:buChar char="q"/>
            </a:pPr>
            <a:endParaRPr lang="en-US" altLang="en-US" sz="2800" dirty="0"/>
          </a:p>
          <a:p>
            <a:pPr algn="just" eaLnBrk="1" hangingPunct="1">
              <a:buFont typeface="Wingdings" panose="05000000000000000000" charset="0"/>
              <a:buChar char="q"/>
            </a:pPr>
            <a:r>
              <a:rPr lang="en-US" altLang="en-US" sz="2800" dirty="0">
                <a:sym typeface="+mn-ea"/>
              </a:rPr>
              <a:t>Information security is no longer the sole responsibility of a discrete group of people in the company</a:t>
            </a:r>
          </a:p>
          <a:p>
            <a:pPr marL="0" indent="0" algn="just" eaLnBrk="1" hangingPunct="1">
              <a:buFont typeface="Wingdings" panose="05000000000000000000" charset="0"/>
              <a:buNone/>
            </a:pPr>
            <a:endParaRPr lang="en-US" altLang="en-US" sz="2800" dirty="0"/>
          </a:p>
          <a:p>
            <a:pPr algn="just" eaLnBrk="1" hangingPunct="1">
              <a:buFont typeface="Wingdings" panose="05000000000000000000" charset="0"/>
              <a:buChar char="q"/>
            </a:pPr>
            <a:r>
              <a:rPr lang="en-US" altLang="en-US" sz="2800" dirty="0">
                <a:sym typeface="+mn-ea"/>
              </a:rPr>
              <a:t>It is the responsibility of every employee, especially managers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5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2515" y="152400"/>
            <a:ext cx="739775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>
                <a:sym typeface="+mn-ea"/>
              </a:rPr>
              <a:t>Information Security Communities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InfoSec community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har char="–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Protects the organization’s information assets from the threats they face.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har char="–"/>
            </a:pP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IT community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Supports the business objectives of the organization by 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har char="–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supplying and supporting information technology 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har char="–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appropriate to the business needs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Non-technical general business community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har char="–"/>
            </a:pP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Articulates and communicates organizational policy and objectives and allocates resources to the other group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484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130" y="160655"/>
            <a:ext cx="7487920" cy="882015"/>
          </a:xfrm>
        </p:spPr>
        <p:txBody>
          <a:bodyPr/>
          <a:lstStyle/>
          <a:p>
            <a:pPr algn="ctr"/>
            <a:r>
              <a:rPr lang="en-US" altLang="en-US" dirty="0">
                <a:sym typeface="+mn-ea"/>
              </a:rPr>
              <a:t>CNSS Security Model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026" name="AutoShape 2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28" name="AutoShape 4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2662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1506200" cy="5543550"/>
          </a:xfrm>
          <a:prstGeom prst="rect">
            <a:avLst/>
          </a:prstGeom>
          <a:noFill/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218826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93675"/>
            <a:ext cx="10515600" cy="91186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ym typeface="+mn-ea"/>
              </a:rPr>
              <a:t>A more general security model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>
                <a:sym typeface="+mn-ea"/>
              </a:rPr>
              <a:t>CNSS Security Model </a:t>
            </a:r>
            <a:endParaRPr lang="en-US" altLang="en-US" sz="2800" dirty="0"/>
          </a:p>
          <a:p>
            <a:pPr lvl="1" eaLnBrk="1" hangingPunct="1"/>
            <a:r>
              <a:rPr lang="en-US" altLang="en-US" sz="2800" dirty="0">
                <a:sym typeface="+mn-ea"/>
              </a:rPr>
              <a:t>Also known as the McCumber Cube</a:t>
            </a:r>
            <a:endParaRPr lang="en-US" altLang="en-US" sz="2800" dirty="0"/>
          </a:p>
          <a:p>
            <a:pPr lvl="1" eaLnBrk="1" hangingPunct="1"/>
            <a:r>
              <a:rPr lang="en-US" altLang="en-US" sz="2800" dirty="0">
                <a:sym typeface="+mn-ea"/>
              </a:rPr>
              <a:t>Provides a more detailed perspective on security</a:t>
            </a:r>
            <a:endParaRPr lang="en-US" altLang="en-US" sz="2800" dirty="0"/>
          </a:p>
          <a:p>
            <a:pPr lvl="1" eaLnBrk="1" hangingPunct="1"/>
            <a:r>
              <a:rPr lang="en-US" altLang="en-US" sz="2800" dirty="0">
                <a:sym typeface="+mn-ea"/>
              </a:rPr>
              <a:t>Covers the three dimensions of information security</a:t>
            </a:r>
            <a:endParaRPr lang="en-US" altLang="en-US" sz="2800" dirty="0"/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69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5540" y="109855"/>
            <a:ext cx="7424420" cy="1024255"/>
          </a:xfrm>
        </p:spPr>
        <p:txBody>
          <a:bodyPr/>
          <a:lstStyle/>
          <a:p>
            <a:r>
              <a:rPr lang="en-US" altLang="en-US" dirty="0">
                <a:sym typeface="+mn-ea"/>
              </a:rPr>
              <a:t>CNSS Security Model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6260"/>
            <a:ext cx="10925175" cy="4197350"/>
          </a:xfrm>
          <a:prstGeom prst="rect">
            <a:avLst/>
          </a:prstGeom>
          <a:noFill/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05372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290" y="127000"/>
            <a:ext cx="7329170" cy="1070610"/>
          </a:xfrm>
        </p:spPr>
        <p:txBody>
          <a:bodyPr>
            <a:normAutofit fontScale="90000"/>
          </a:bodyPr>
          <a:lstStyle/>
          <a:p>
            <a:r>
              <a:rPr>
                <a:sym typeface="+mn-ea"/>
              </a:rPr>
              <a:t>What is the CNSS Security Model?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A framework developed by the Committee on National Security Systems (CNSS)</a:t>
            </a:r>
          </a:p>
          <a:p>
            <a:pPr>
              <a:lnSpc>
                <a:spcPct val="100000"/>
              </a:lnSpc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- Focuses on protecting national security systems and sensitive information</a:t>
            </a:r>
          </a:p>
          <a:p>
            <a:pPr>
              <a:lnSpc>
                <a:spcPct val="100000"/>
              </a:lnSpc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- Used by government, military, and private organizations handling classified or critical data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Currently using by US Government</a:t>
            </a:r>
          </a:p>
        </p:txBody>
      </p:sp>
    </p:spTree>
    <p:extLst>
      <p:ext uri="{BB962C8B-B14F-4D97-AF65-F5344CB8AC3E}">
        <p14:creationId xmlns:p14="http://schemas.microsoft.com/office/powerpoint/2010/main" val="1559865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495" y="0"/>
            <a:ext cx="7506335" cy="1176655"/>
          </a:xfrm>
        </p:spPr>
        <p:txBody>
          <a:bodyPr>
            <a:normAutofit fontScale="90000"/>
          </a:bodyPr>
          <a:lstStyle/>
          <a:p>
            <a:pPr algn="ctr"/>
            <a:r>
              <a:rPr>
                <a:sym typeface="+mn-ea"/>
              </a:rPr>
              <a:t>The CIA Triad – Foundation of CNSS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9280" y="1790700"/>
            <a:ext cx="10102215" cy="3971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Three Core Principles:</a:t>
            </a: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Confidentiality: Ensures only authorized users can access data</a:t>
            </a: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Integrity: Protects data from being altered or tampered with</a:t>
            </a: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Availability: Ensures data and systems remain operational and accessible</a:t>
            </a:r>
          </a:p>
          <a:p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08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065" y="-635"/>
            <a:ext cx="6971030" cy="122301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Policy Education in Technology..CNSS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Educates users on security policies and regulations for technology use.</a:t>
            </a: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Ensures compliance with legal and organizational security standards.</a:t>
            </a: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Helps organizations understand risk management and cybersecurity best practices.</a:t>
            </a: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Promotes awareness about ethical and responsible technology use in national security settings.</a:t>
            </a:r>
          </a:p>
        </p:txBody>
      </p:sp>
    </p:spTree>
    <p:extLst>
      <p:ext uri="{BB962C8B-B14F-4D97-AF65-F5344CB8AC3E}">
        <p14:creationId xmlns:p14="http://schemas.microsoft.com/office/powerpoint/2010/main" val="3148606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635"/>
            <a:ext cx="7384415" cy="1114425"/>
          </a:xfrm>
        </p:spPr>
        <p:txBody>
          <a:bodyPr/>
          <a:lstStyle/>
          <a:p>
            <a:pPr algn="ctr"/>
            <a:r>
              <a:rPr b="1">
                <a:sym typeface="+mn-ea"/>
              </a:rPr>
              <a:t>Purpose of the Model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67105" y="2212340"/>
            <a:ext cx="8754110" cy="3721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>
                <a:sym typeface="+mn-ea"/>
              </a:rPr>
              <a:t>-</a:t>
            </a:r>
            <a:r>
              <a:rPr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Establishes security guidelines and best practices</a:t>
            </a: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Ensures information security through risk management and compliance</a:t>
            </a: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Helps organizations defend against cyber threats and unauthorized access</a:t>
            </a:r>
          </a:p>
          <a:p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61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700" y="102235"/>
            <a:ext cx="6750050" cy="1076325"/>
          </a:xfrm>
        </p:spPr>
        <p:txBody>
          <a:bodyPr/>
          <a:lstStyle/>
          <a:p>
            <a:r>
              <a:rPr lang="en-US" altLang="en-US">
                <a:sym typeface="+mn-ea"/>
              </a:rPr>
              <a:t>structured approach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en-US"/>
              <a:t>A structured approach refers to a systematic, organized, and well-defined method of handling security measures within an organization. In the context of the CNSS Security Model.</a:t>
            </a:r>
          </a:p>
          <a:p>
            <a:r>
              <a:rPr lang="en-US" altLang="en-US"/>
              <a:t> this means: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/>
              <a:t>1.</a:t>
            </a:r>
            <a:r>
              <a:rPr lang="en-US" altLang="en-US" b="1"/>
              <a:t> Defined Security Principles</a:t>
            </a:r>
            <a:r>
              <a:rPr lang="en-US" altLang="en-US"/>
              <a:t> – The model follows the CIA Triad (Confidentiality, Integrity, and Availability) as the foundation of security.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/>
              <a:t>2. </a:t>
            </a:r>
            <a:r>
              <a:rPr lang="en-US" altLang="en-US" b="1"/>
              <a:t>Standardized Procedures</a:t>
            </a:r>
            <a:r>
              <a:rPr lang="en-US" altLang="en-US"/>
              <a:t> – Organizations must implement security best practices, risk management, and compliance measures consistently.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/>
              <a:t> </a:t>
            </a:r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637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6170" y="0"/>
            <a:ext cx="7205345" cy="1032510"/>
          </a:xfrm>
        </p:spPr>
        <p:txBody>
          <a:bodyPr>
            <a:normAutofit/>
          </a:bodyPr>
          <a:lstStyle/>
          <a:p>
            <a:r>
              <a:rPr lang="en-US"/>
              <a:t>conti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altLang="en-US">
                <a:sym typeface="+mn-ea"/>
              </a:rPr>
              <a:t>3. </a:t>
            </a:r>
            <a:r>
              <a:rPr lang="en-US" altLang="en-US" b="1">
                <a:sym typeface="+mn-ea"/>
              </a:rPr>
              <a:t>Layered Security Measures</a:t>
            </a:r>
            <a:r>
              <a:rPr lang="en-US" altLang="en-US">
                <a:sym typeface="+mn-ea"/>
              </a:rPr>
              <a:t> – A combination of technical, administrative, and physical controls ensures robust protection.  </a:t>
            </a:r>
            <a:endParaRPr lang="en-US" altLang="en-US"/>
          </a:p>
          <a:p>
            <a:pPr>
              <a:lnSpc>
                <a:spcPct val="200000"/>
              </a:lnSpc>
            </a:pPr>
            <a:r>
              <a:rPr lang="en-US" altLang="en-US">
                <a:sym typeface="+mn-ea"/>
              </a:rPr>
              <a:t>4. </a:t>
            </a:r>
            <a:r>
              <a:rPr lang="en-US" altLang="en-US" b="1">
                <a:sym typeface="+mn-ea"/>
              </a:rPr>
              <a:t>Continuous Monitoring &amp; Improvement</a:t>
            </a:r>
            <a:r>
              <a:rPr lang="en-US" altLang="en-US">
                <a:sym typeface="+mn-ea"/>
              </a:rPr>
              <a:t> – Security is an ongoing process involving assessments, audits, and proactive responses to emerging threats.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57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0"/>
            <a:ext cx="7353935" cy="1214755"/>
          </a:xfrm>
        </p:spPr>
        <p:txBody>
          <a:bodyPr/>
          <a:lstStyle/>
          <a:p>
            <a:r>
              <a:rPr>
                <a:sym typeface="+mn-ea"/>
              </a:rPr>
              <a:t>Conclusion &amp; Final Thoughts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- </a:t>
            </a:r>
            <a:r>
              <a:rPr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CNSS Security Model provides a structured approach to protecting national security systems</a:t>
            </a: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It ensures confidentiality, integrity, and availability of critical data</a:t>
            </a: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Organizations must adopt best practices and risk management strategies to stay secure</a:t>
            </a:r>
          </a:p>
          <a:p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98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124200"/>
            <a:ext cx="10871200" cy="990600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 smtClean="0"/>
              <a:t>Questions?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315175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996</Words>
  <Application>Microsoft Office PowerPoint</Application>
  <PresentationFormat>Widescreen</PresentationFormat>
  <Paragraphs>110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맑은 고딕</vt:lpstr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Lecture 6</vt:lpstr>
      <vt:lpstr>1_Office Theme</vt:lpstr>
      <vt:lpstr>Information Security  Examples and Impacts of CIA  Week 1</vt:lpstr>
      <vt:lpstr>PowerPoint Presentation</vt:lpstr>
      <vt:lpstr>Security Aspects of Information Assets </vt:lpstr>
      <vt:lpstr>PowerPoint Presentation</vt:lpstr>
      <vt:lpstr>PowerPoint Presentation</vt:lpstr>
      <vt:lpstr>Challenges of Computer Security </vt:lpstr>
      <vt:lpstr>PowerPoint Presentation</vt:lpstr>
      <vt:lpstr>PowerPoint Presentation</vt:lpstr>
      <vt:lpstr>Infomation system</vt:lpstr>
      <vt:lpstr>Information Security </vt:lpstr>
      <vt:lpstr>Information Security Communities</vt:lpstr>
      <vt:lpstr>CNSS Security Model</vt:lpstr>
      <vt:lpstr>A more general security model</vt:lpstr>
      <vt:lpstr>CNSS Security Model (cont)</vt:lpstr>
      <vt:lpstr>What is the CNSS Security Model?</vt:lpstr>
      <vt:lpstr>The CIA Triad – Foundation of CNSS</vt:lpstr>
      <vt:lpstr>Policy Education in Technology..CNSS</vt:lpstr>
      <vt:lpstr>Purpose of the Model</vt:lpstr>
      <vt:lpstr>structured approach</vt:lpstr>
      <vt:lpstr>conti</vt:lpstr>
      <vt:lpstr>Conclusion &amp; Final Thoughts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shaina laraib</cp:lastModifiedBy>
  <cp:revision>166</cp:revision>
  <dcterms:created xsi:type="dcterms:W3CDTF">2024-06-21T09:49:00Z</dcterms:created>
  <dcterms:modified xsi:type="dcterms:W3CDTF">2026-09-03T04:48:22Z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