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2" r:id="rId2"/>
    <p:sldMasterId id="2147483684" r:id="rId3"/>
  </p:sldMasterIdLst>
  <p:notesMasterIdLst>
    <p:notesMasterId r:id="rId26"/>
  </p:notesMasterIdLst>
  <p:sldIdLst>
    <p:sldId id="273" r:id="rId4"/>
    <p:sldId id="925" r:id="rId5"/>
    <p:sldId id="926" r:id="rId6"/>
    <p:sldId id="927" r:id="rId7"/>
    <p:sldId id="928" r:id="rId8"/>
    <p:sldId id="929" r:id="rId9"/>
    <p:sldId id="917" r:id="rId10"/>
    <p:sldId id="916" r:id="rId11"/>
    <p:sldId id="918" r:id="rId12"/>
    <p:sldId id="930" r:id="rId13"/>
    <p:sldId id="931" r:id="rId14"/>
    <p:sldId id="932" r:id="rId15"/>
    <p:sldId id="919" r:id="rId16"/>
    <p:sldId id="935" r:id="rId17"/>
    <p:sldId id="934" r:id="rId18"/>
    <p:sldId id="933" r:id="rId19"/>
    <p:sldId id="938" r:id="rId20"/>
    <p:sldId id="939" r:id="rId21"/>
    <p:sldId id="940" r:id="rId22"/>
    <p:sldId id="920" r:id="rId23"/>
    <p:sldId id="921" r:id="rId24"/>
    <p:sldId id="941" r:id="rId25"/>
  </p:sldIdLst>
  <p:sldSz cx="12192000" cy="6858000"/>
  <p:notesSz cx="6858000" cy="9144000"/>
  <p:defaultText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2A2A"/>
    <a:srgbClr val="C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609" autoAdjust="0"/>
    <p:restoredTop sz="94438" autoAdjust="0"/>
  </p:normalViewPr>
  <p:slideViewPr>
    <p:cSldViewPr snapToGrid="0">
      <p:cViewPr varScale="1">
        <p:scale>
          <a:sx n="51" d="100"/>
          <a:sy n="51" d="100"/>
        </p:scale>
        <p:origin x="29" y="6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FD0056C-9295-4614-95BD-8AAB9A5181D8}" type="datetimeFigureOut">
              <a:rPr lang="en-US" smtClean="0"/>
              <a:t>9/1/2026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3A268B0-555D-49A7-B078-7311B453B63C}" type="slidenum">
              <a:rPr lang="en-US" smtClean="0"/>
              <a:t>‹#›</a:t>
            </a:fld>
            <a:endParaRPr lang="en-US"/>
          </a:p>
        </p:txBody>
      </p:sp>
    </p:spTree>
    <p:extLst>
      <p:ext uri="{BB962C8B-B14F-4D97-AF65-F5344CB8AC3E}">
        <p14:creationId xmlns:p14="http://schemas.microsoft.com/office/powerpoint/2010/main" val="23146304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Federal Information Processing Standard Publication 199</a:t>
            </a:r>
          </a:p>
        </p:txBody>
      </p:sp>
      <p:sp>
        <p:nvSpPr>
          <p:cNvPr id="4" name="Slide Number Placeholder 3"/>
          <p:cNvSpPr>
            <a:spLocks noGrp="1"/>
          </p:cNvSpPr>
          <p:nvPr>
            <p:ph type="sldNum" sz="quarter" idx="10"/>
          </p:nvPr>
        </p:nvSpPr>
        <p:spPr/>
        <p:txBody>
          <a:bodyPr/>
          <a:lstStyle/>
          <a:p>
            <a:fld id="{43A268B0-555D-49A7-B078-7311B453B63C}" type="slidenum">
              <a:rPr lang="en-US" smtClean="0"/>
              <a:t>20</a:t>
            </a:fld>
            <a:endParaRPr lang="en-US"/>
          </a:p>
        </p:txBody>
      </p:sp>
    </p:spTree>
    <p:extLst>
      <p:ext uri="{BB962C8B-B14F-4D97-AF65-F5344CB8AC3E}">
        <p14:creationId xmlns:p14="http://schemas.microsoft.com/office/powerpoint/2010/main" val="13873422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x-none"/>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9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9/1/2026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9/1/2026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x-none"/>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9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37A82C-AEEE-48DB-A866-3B1CA0AC9D5D}" type="datetimeFigureOut">
              <a:rPr lang="x-none" smtClean="0"/>
              <a:t>9/1/2026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p:cNvSpPr>
            <a:spLocks noGrp="1"/>
          </p:cNvSpPr>
          <p:nvPr>
            <p:ph type="dt" sz="half" idx="10"/>
          </p:nvPr>
        </p:nvSpPr>
        <p:spPr/>
        <p:txBody>
          <a:bodyPr/>
          <a:lstStyle/>
          <a:p>
            <a:fld id="{3237A82C-AEEE-48DB-A866-3B1CA0AC9D5D}" type="datetimeFigureOut">
              <a:rPr lang="x-none" smtClean="0"/>
              <a:t>9/1/2026</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x-none"/>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p:cNvSpPr>
            <a:spLocks noGrp="1"/>
          </p:cNvSpPr>
          <p:nvPr>
            <p:ph type="dt" sz="half" idx="10"/>
          </p:nvPr>
        </p:nvSpPr>
        <p:spPr/>
        <p:txBody>
          <a:bodyPr/>
          <a:lstStyle/>
          <a:p>
            <a:fld id="{3237A82C-AEEE-48DB-A866-3B1CA0AC9D5D}" type="datetimeFigureOut">
              <a:rPr lang="x-none" smtClean="0"/>
              <a:t>9/1/2026</a:t>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Date Placeholder 2"/>
          <p:cNvSpPr>
            <a:spLocks noGrp="1"/>
          </p:cNvSpPr>
          <p:nvPr>
            <p:ph type="dt" sz="half" idx="10"/>
          </p:nvPr>
        </p:nvSpPr>
        <p:spPr/>
        <p:txBody>
          <a:bodyPr/>
          <a:lstStyle/>
          <a:p>
            <a:fld id="{3237A82C-AEEE-48DB-A866-3B1CA0AC9D5D}" type="datetimeFigureOut">
              <a:rPr lang="x-none" smtClean="0"/>
              <a:t>9/1/2026</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7A82C-AEEE-48DB-A866-3B1CA0AC9D5D}" type="datetimeFigureOut">
              <a:rPr lang="x-none" smtClean="0"/>
              <a:t>9/1/2026</a:t>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9/1/2026</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Picture Placeholder 2"/>
          <p:cNvSpPr>
            <a:spLocks noGrp="1"/>
          </p:cNvSpPr>
          <p:nvPr>
            <p:ph type="pic" idx="1"/>
          </p:nvPr>
        </p:nvSpPr>
        <p:spPr>
          <a:xfrm>
            <a:off x="5183188"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9/1/2026</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9/1/2026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a:t>Click to edit Master title style</a:t>
            </a:r>
            <a:endParaRPr lang="x-none"/>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9/1/2026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x-none"/>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9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9/1/2026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3834719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9/1/2026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5156529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x-none"/>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9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237A82C-AEEE-48DB-A866-3B1CA0AC9D5D}" type="datetimeFigureOut">
              <a:rPr lang="x-none" smtClean="0"/>
              <a:t>9/1/2026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6562610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sz="half" idx="1"/>
          </p:nvPr>
        </p:nvSpPr>
        <p:spPr>
          <a:xfrm>
            <a:off x="838200" y="1825625"/>
            <a:ext cx="5181600" cy="435133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p:cNvSpPr>
            <a:spLocks noGrp="1"/>
          </p:cNvSpPr>
          <p:nvPr>
            <p:ph sz="half" idx="2"/>
          </p:nvPr>
        </p:nvSpPr>
        <p:spPr>
          <a:xfrm>
            <a:off x="6172200" y="1825625"/>
            <a:ext cx="5181600" cy="435133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p:cNvSpPr>
            <a:spLocks noGrp="1"/>
          </p:cNvSpPr>
          <p:nvPr>
            <p:ph type="dt" sz="half" idx="10"/>
          </p:nvPr>
        </p:nvSpPr>
        <p:spPr/>
        <p:txBody>
          <a:bodyPr/>
          <a:lstStyle/>
          <a:p>
            <a:fld id="{3237A82C-AEEE-48DB-A866-3B1CA0AC9D5D}" type="datetimeFigureOut">
              <a:rPr lang="x-none" smtClean="0"/>
              <a:t>9/1/2026</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56781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x-none"/>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p:cNvSpPr>
            <a:spLocks noGrp="1"/>
          </p:cNvSpPr>
          <p:nvPr>
            <p:ph type="dt" sz="half" idx="10"/>
          </p:nvPr>
        </p:nvSpPr>
        <p:spPr/>
        <p:txBody>
          <a:bodyPr/>
          <a:lstStyle/>
          <a:p>
            <a:fld id="{3237A82C-AEEE-48DB-A866-3B1CA0AC9D5D}" type="datetimeFigureOut">
              <a:rPr lang="x-none" smtClean="0"/>
              <a:t>9/1/2026</a:t>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3508707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Date Placeholder 2"/>
          <p:cNvSpPr>
            <a:spLocks noGrp="1"/>
          </p:cNvSpPr>
          <p:nvPr>
            <p:ph type="dt" sz="half" idx="10"/>
          </p:nvPr>
        </p:nvSpPr>
        <p:spPr/>
        <p:txBody>
          <a:bodyPr/>
          <a:lstStyle/>
          <a:p>
            <a:fld id="{3237A82C-AEEE-48DB-A866-3B1CA0AC9D5D}" type="datetimeFigureOut">
              <a:rPr lang="x-none" smtClean="0"/>
              <a:t>9/1/2026</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4127357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7A82C-AEEE-48DB-A866-3B1CA0AC9D5D}" type="datetimeFigureOut">
              <a:rPr lang="x-none" smtClean="0"/>
              <a:t>9/1/2026</a:t>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8563733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a:t>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9/1/2026</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4217433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Picture Placeholder 2"/>
          <p:cNvSpPr>
            <a:spLocks noGrp="1"/>
          </p:cNvSpPr>
          <p:nvPr>
            <p:ph type="pic" idx="1"/>
          </p:nvPr>
        </p:nvSpPr>
        <p:spPr>
          <a:xfrm>
            <a:off x="5183188"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a:t>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9/1/2026</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4771562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9/1/2026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3222281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a:t>Click to edit Master title style</a:t>
            </a:r>
            <a:endParaRPr lang="x-none"/>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9/1/2026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5954773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x-none"/>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9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9/1/2026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08657228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9/1/2026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2863264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x-none"/>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9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237A82C-AEEE-48DB-A866-3B1CA0AC9D5D}" type="datetimeFigureOut">
              <a:rPr lang="x-none" smtClean="0"/>
              <a:t>9/1/2026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5276056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sz="half" idx="1"/>
          </p:nvPr>
        </p:nvSpPr>
        <p:spPr>
          <a:xfrm>
            <a:off x="838200" y="1825625"/>
            <a:ext cx="5181600" cy="435133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p:cNvSpPr>
            <a:spLocks noGrp="1"/>
          </p:cNvSpPr>
          <p:nvPr>
            <p:ph sz="half" idx="2"/>
          </p:nvPr>
        </p:nvSpPr>
        <p:spPr>
          <a:xfrm>
            <a:off x="6172200" y="1825625"/>
            <a:ext cx="5181600" cy="435133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p:cNvSpPr>
            <a:spLocks noGrp="1"/>
          </p:cNvSpPr>
          <p:nvPr>
            <p:ph type="dt" sz="half" idx="10"/>
          </p:nvPr>
        </p:nvSpPr>
        <p:spPr/>
        <p:txBody>
          <a:bodyPr/>
          <a:lstStyle/>
          <a:p>
            <a:fld id="{3237A82C-AEEE-48DB-A866-3B1CA0AC9D5D}" type="datetimeFigureOut">
              <a:rPr lang="x-none" smtClean="0"/>
              <a:t>9/1/2026</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588303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x-none"/>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p:cNvSpPr>
            <a:spLocks noGrp="1"/>
          </p:cNvSpPr>
          <p:nvPr>
            <p:ph type="dt" sz="half" idx="10"/>
          </p:nvPr>
        </p:nvSpPr>
        <p:spPr/>
        <p:txBody>
          <a:bodyPr/>
          <a:lstStyle/>
          <a:p>
            <a:fld id="{3237A82C-AEEE-48DB-A866-3B1CA0AC9D5D}" type="datetimeFigureOut">
              <a:rPr lang="x-none" smtClean="0"/>
              <a:t>9/1/2026</a:t>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27694364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Date Placeholder 2"/>
          <p:cNvSpPr>
            <a:spLocks noGrp="1"/>
          </p:cNvSpPr>
          <p:nvPr>
            <p:ph type="dt" sz="half" idx="10"/>
          </p:nvPr>
        </p:nvSpPr>
        <p:spPr/>
        <p:txBody>
          <a:bodyPr/>
          <a:lstStyle/>
          <a:p>
            <a:fld id="{3237A82C-AEEE-48DB-A866-3B1CA0AC9D5D}" type="datetimeFigureOut">
              <a:rPr lang="x-none" smtClean="0"/>
              <a:t>9/1/2026</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41886014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7A82C-AEEE-48DB-A866-3B1CA0AC9D5D}" type="datetimeFigureOut">
              <a:rPr lang="x-none" smtClean="0"/>
              <a:t>9/1/2026</a:t>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9472795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a:t>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9/1/2026</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28264977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Picture Placeholder 2"/>
          <p:cNvSpPr>
            <a:spLocks noGrp="1"/>
          </p:cNvSpPr>
          <p:nvPr>
            <p:ph type="pic" idx="1"/>
          </p:nvPr>
        </p:nvSpPr>
        <p:spPr>
          <a:xfrm>
            <a:off x="5183188"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a:t>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9/1/2026</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24104260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9/1/2026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60697662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a:t>Click to edit Master title style</a:t>
            </a:r>
            <a:endParaRPr lang="x-none"/>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9/1/2026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086589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18" Type="http://schemas.openxmlformats.org/officeDocument/2006/relationships/image" Target="../media/image4.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17" Type="http://schemas.openxmlformats.org/officeDocument/2006/relationships/image" Target="../media/image5.svg"/><Relationship Id="rId2" Type="http://schemas.openxmlformats.org/officeDocument/2006/relationships/slideLayout" Target="../slideLayouts/slideLayout13.xml"/><Relationship Id="rId16" Type="http://schemas.openxmlformats.org/officeDocument/2006/relationships/image" Target="../media/image3.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3.sv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38" tIns="45719" rIns="91438" bIns="45719" rtlCol="0" anchor="ctr">
            <a:normAutofit/>
          </a:bodyPr>
          <a:lstStyle/>
          <a:p>
            <a:r>
              <a:rPr lang="en-US"/>
              <a:t>Click to edit Master title style</a:t>
            </a:r>
            <a:endParaRPr lang="x-none"/>
          </a:p>
        </p:txBody>
      </p:sp>
      <p:sp>
        <p:nvSpPr>
          <p:cNvPr id="3" name="Text Placeholder 2"/>
          <p:cNvSpPr>
            <a:spLocks noGrp="1"/>
          </p:cNvSpPr>
          <p:nvPr>
            <p:ph type="body" idx="1"/>
          </p:nvPr>
        </p:nvSpPr>
        <p:spPr>
          <a:xfrm>
            <a:off x="838200" y="1825625"/>
            <a:ext cx="10515600" cy="4351339"/>
          </a:xfrm>
          <a:prstGeom prst="rect">
            <a:avLst/>
          </a:prstGeom>
        </p:spPr>
        <p:txBody>
          <a:bodyPr vert="horz" lIns="91438" tIns="45719" rIns="91438" bIns="4571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2"/>
          </p:nvPr>
        </p:nvSpPr>
        <p:spPr>
          <a:xfrm>
            <a:off x="838200" y="6356351"/>
            <a:ext cx="2743200" cy="365125"/>
          </a:xfrm>
          <a:prstGeom prst="rect">
            <a:avLst/>
          </a:prstGeom>
        </p:spPr>
        <p:txBody>
          <a:bodyPr vert="horz" lIns="91438" tIns="45719" rIns="91438" bIns="45719" rtlCol="0" anchor="ctr"/>
          <a:lstStyle>
            <a:lvl1pPr algn="l">
              <a:defRPr sz="1200">
                <a:solidFill>
                  <a:schemeClr val="tx1">
                    <a:tint val="75000"/>
                  </a:schemeClr>
                </a:solidFill>
              </a:defRPr>
            </a:lvl1pPr>
          </a:lstStyle>
          <a:p>
            <a:fld id="{3237A82C-AEEE-48DB-A866-3B1CA0AC9D5D}" type="datetimeFigureOut">
              <a:rPr lang="x-none" smtClean="0"/>
              <a:t>9/1/2026</a:t>
            </a:fld>
            <a:endParaRPr lang="x-none"/>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38" tIns="45719" rIns="91438" bIns="45719" rtlCol="0" anchor="ctr"/>
          <a:lstStyle>
            <a:lvl1pPr algn="ctr">
              <a:defRPr sz="1200">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38" tIns="45719" rIns="91438" bIns="45719" rtlCol="0" anchor="ctr"/>
          <a:lstStyle>
            <a:lvl1pPr algn="r">
              <a:defRPr sz="1200">
                <a:solidFill>
                  <a:schemeClr val="tx1">
                    <a:tint val="75000"/>
                  </a:schemeClr>
                </a:solidFill>
              </a:defRPr>
            </a:lvl1pPr>
          </a:lstStyle>
          <a:p>
            <a:fld id="{6EB9F7D7-3C9C-4146-9FA1-B77DEB44278D}" type="slidenum">
              <a:rPr lang="x-none" smtClean="0"/>
              <a:t>‹#›</a:t>
            </a:fld>
            <a:endParaRPr lang="x-non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38" tIns="45719" rIns="91438" bIns="45719" rtlCol="0" anchor="ctr">
            <a:normAutofit/>
          </a:bodyPr>
          <a:lstStyle/>
          <a:p>
            <a:r>
              <a:rPr lang="en-US"/>
              <a:t>Click to edit Master title style</a:t>
            </a:r>
            <a:endParaRPr lang="x-none"/>
          </a:p>
        </p:txBody>
      </p:sp>
      <p:sp>
        <p:nvSpPr>
          <p:cNvPr id="3" name="Text Placeholder 2"/>
          <p:cNvSpPr>
            <a:spLocks noGrp="1"/>
          </p:cNvSpPr>
          <p:nvPr>
            <p:ph type="body" idx="1"/>
          </p:nvPr>
        </p:nvSpPr>
        <p:spPr>
          <a:xfrm>
            <a:off x="838200" y="1825625"/>
            <a:ext cx="10515600" cy="4351339"/>
          </a:xfrm>
          <a:prstGeom prst="rect">
            <a:avLst/>
          </a:prstGeom>
        </p:spPr>
        <p:txBody>
          <a:bodyPr vert="horz" lIns="91438" tIns="45719" rIns="91438" bIns="45719"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2"/>
          </p:nvPr>
        </p:nvSpPr>
        <p:spPr>
          <a:xfrm>
            <a:off x="838200" y="6356351"/>
            <a:ext cx="2743200" cy="365125"/>
          </a:xfrm>
          <a:prstGeom prst="rect">
            <a:avLst/>
          </a:prstGeom>
        </p:spPr>
        <p:txBody>
          <a:bodyPr vert="horz" lIns="91438" tIns="45719" rIns="91438" bIns="45719" rtlCol="0" anchor="ctr"/>
          <a:lstStyle>
            <a:lvl1pPr algn="l">
              <a:defRPr sz="1200">
                <a:solidFill>
                  <a:schemeClr val="tx1">
                    <a:tint val="75000"/>
                  </a:schemeClr>
                </a:solidFill>
              </a:defRPr>
            </a:lvl1pPr>
          </a:lstStyle>
          <a:p>
            <a:fld id="{3237A82C-AEEE-48DB-A866-3B1CA0AC9D5D}" type="datetimeFigureOut">
              <a:rPr lang="x-none" smtClean="0"/>
              <a:t>9/1/2026</a:t>
            </a:fld>
            <a:endParaRPr lang="x-none"/>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38" tIns="45719" rIns="91438" bIns="45719" rtlCol="0" anchor="ctr"/>
          <a:lstStyle>
            <a:lvl1pPr algn="ctr">
              <a:defRPr sz="1200">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38" tIns="45719" rIns="91438" bIns="45719" rtlCol="0" anchor="ctr"/>
          <a:lstStyle>
            <a:lvl1pPr algn="r">
              <a:defRPr sz="1200">
                <a:solidFill>
                  <a:schemeClr val="tx1">
                    <a:tint val="75000"/>
                  </a:schemeClr>
                </a:solidFill>
              </a:defRPr>
            </a:lvl1pPr>
          </a:lstStyle>
          <a:p>
            <a:fld id="{6EB9F7D7-3C9C-4146-9FA1-B77DEB44278D}" type="slidenum">
              <a:rPr lang="x-none" smtClean="0"/>
              <a:t>‹#›</a:t>
            </a:fld>
            <a:endParaRPr lang="x-none"/>
          </a:p>
        </p:txBody>
      </p:sp>
      <p:grpSp>
        <p:nvGrpSpPr>
          <p:cNvPr id="7" name="Group 6">
            <a:extLst>
              <a:ext uri="{FF2B5EF4-FFF2-40B4-BE49-F238E27FC236}">
                <a16:creationId xmlns:a16="http://schemas.microsoft.com/office/drawing/2014/main" id="{BAEFE420-0C07-4D1B-9094-F2C452FF1011}"/>
              </a:ext>
            </a:extLst>
          </p:cNvPr>
          <p:cNvGrpSpPr/>
          <p:nvPr userDrawn="1"/>
        </p:nvGrpSpPr>
        <p:grpSpPr>
          <a:xfrm>
            <a:off x="0" y="0"/>
            <a:ext cx="12749348" cy="1115736"/>
            <a:chOff x="0" y="0"/>
            <a:chExt cx="12749348" cy="1115736"/>
          </a:xfrm>
        </p:grpSpPr>
        <p:sp>
          <p:nvSpPr>
            <p:cNvPr id="8" name="Rectangle 7">
              <a:extLst>
                <a:ext uri="{FF2B5EF4-FFF2-40B4-BE49-F238E27FC236}">
                  <a16:creationId xmlns:a16="http://schemas.microsoft.com/office/drawing/2014/main" id="{6FBB4837-678E-4FCE-A1B7-2AE1B9432890}"/>
                </a:ext>
              </a:extLst>
            </p:cNvPr>
            <p:cNvSpPr/>
            <p:nvPr userDrawn="1"/>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x-non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x-none" dirty="0"/>
            </a:p>
          </p:txBody>
        </p:sp>
        <p:pic>
          <p:nvPicPr>
            <p:cNvPr id="9" name="Picture 8">
              <a:extLst>
                <a:ext uri="{FF2B5EF4-FFF2-40B4-BE49-F238E27FC236}">
                  <a16:creationId xmlns:a16="http://schemas.microsoft.com/office/drawing/2014/main" id="{D279BBF0-3F01-4944-AF8F-73A34B5B9CEF}"/>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0" name="TextBox 10">
              <a:extLst>
                <a:ext uri="{FF2B5EF4-FFF2-40B4-BE49-F238E27FC236}">
                  <a16:creationId xmlns:a16="http://schemas.microsoft.com/office/drawing/2014/main" id="{650112A7-3B60-423A-8682-3EC1CCAA7ABE}"/>
                </a:ext>
              </a:extLst>
            </p:cNvPr>
            <p:cNvSpPr txBox="1"/>
            <p:nvPr userDrawn="1"/>
          </p:nvSpPr>
          <p:spPr>
            <a:xfrm>
              <a:off x="10719753" y="696917"/>
              <a:ext cx="1619033" cy="261610"/>
            </a:xfrm>
            <a:prstGeom prst="rect">
              <a:avLst/>
            </a:prstGeom>
            <a:noFill/>
          </p:spPr>
          <p:txBody>
            <a:bodyPr wrap="square" rtlCol="0">
              <a:spAutoFit/>
            </a:bodyPr>
            <a:ls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err="1">
                  <a:solidFill>
                    <a:schemeClr val="bg1"/>
                  </a:solidFill>
                </a:rPr>
                <a:t>unioffaisalabad</a:t>
              </a:r>
              <a:endParaRPr lang="x-none" sz="1100" dirty="0">
                <a:solidFill>
                  <a:schemeClr val="bg1"/>
                </a:solidFill>
              </a:endParaRPr>
            </a:p>
          </p:txBody>
        </p:sp>
        <p:pic>
          <p:nvPicPr>
            <p:cNvPr id="11" name="Graphic 11">
              <a:extLst>
                <a:ext uri="{FF2B5EF4-FFF2-40B4-BE49-F238E27FC236}">
                  <a16:creationId xmlns:a16="http://schemas.microsoft.com/office/drawing/2014/main" id="{75FFEA7F-8809-458D-BE80-99F7CFB965CA}"/>
                </a:ext>
              </a:extLst>
            </p:cNvPr>
            <p:cNvPicPr>
              <a:picLocks noChangeAspect="1"/>
            </p:cNvPicPr>
            <p:nvPr userDrawn="1"/>
          </p:nvPicPr>
          <p:blipFill>
            <a:blip r:embed="rId14">
              <a:extLst>
                <a:ext uri="{96DAC541-7B7A-43D3-8B79-37D633B846F1}">
                  <asvg:svgBlip xmlns:asvg="http://schemas.microsoft.com/office/drawing/2016/SVG/main" xmlns="" r:embed="rId15"/>
                </a:ext>
              </a:extLst>
            </a:blip>
            <a:stretch>
              <a:fillRect/>
            </a:stretch>
          </p:blipFill>
          <p:spPr>
            <a:xfrm>
              <a:off x="9906056" y="403986"/>
              <a:ext cx="261610" cy="261610"/>
            </a:xfrm>
            <a:prstGeom prst="rect">
              <a:avLst/>
            </a:prstGeom>
          </p:spPr>
        </p:pic>
        <p:sp>
          <p:nvSpPr>
            <p:cNvPr id="12" name="TextBox 12">
              <a:extLst>
                <a:ext uri="{FF2B5EF4-FFF2-40B4-BE49-F238E27FC236}">
                  <a16:creationId xmlns:a16="http://schemas.microsoft.com/office/drawing/2014/main" id="{B3F075CD-8CB0-4BD0-B756-BA559BF9DF2D}"/>
                </a:ext>
              </a:extLst>
            </p:cNvPr>
            <p:cNvSpPr txBox="1"/>
            <p:nvPr userDrawn="1"/>
          </p:nvSpPr>
          <p:spPr>
            <a:xfrm>
              <a:off x="10142944" y="350125"/>
              <a:ext cx="2606404" cy="369332"/>
            </a:xfrm>
            <a:prstGeom prst="rect">
              <a:avLst/>
            </a:prstGeom>
            <a:noFill/>
          </p:spPr>
          <p:txBody>
            <a:bodyPr wrap="square" rtlCol="0">
              <a:spAutoFit/>
            </a:bodyPr>
            <a:ls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3" name="Graphic 13">
              <a:extLst>
                <a:ext uri="{FF2B5EF4-FFF2-40B4-BE49-F238E27FC236}">
                  <a16:creationId xmlns:a16="http://schemas.microsoft.com/office/drawing/2014/main" id="{ACED766F-A0E3-4D45-8A6E-86CCFAFA5D96}"/>
                </a:ext>
              </a:extLst>
            </p:cNvPr>
            <p:cNvPicPr>
              <a:picLocks noChangeAspect="1"/>
            </p:cNvPicPr>
            <p:nvPr userDrawn="1"/>
          </p:nvPicPr>
          <p:blipFill>
            <a:blip r:embed="rId16">
              <a:extLst>
                <a:ext uri="{96DAC541-7B7A-43D3-8B79-37D633B846F1}">
                  <asvg:svgBlip xmlns:asvg="http://schemas.microsoft.com/office/drawing/2016/SVG/main" xmlns="" r:embed="rId17"/>
                </a:ext>
              </a:extLst>
            </a:blip>
            <a:stretch>
              <a:fillRect/>
            </a:stretch>
          </p:blipFill>
          <p:spPr>
            <a:xfrm>
              <a:off x="10591033" y="741997"/>
              <a:ext cx="171450" cy="171450"/>
            </a:xfrm>
            <a:prstGeom prst="rect">
              <a:avLst/>
            </a:prstGeom>
          </p:spPr>
        </p:pic>
        <p:pic>
          <p:nvPicPr>
            <p:cNvPr id="14" name="Picture 13">
              <a:extLst>
                <a:ext uri="{FF2B5EF4-FFF2-40B4-BE49-F238E27FC236}">
                  <a16:creationId xmlns:a16="http://schemas.microsoft.com/office/drawing/2014/main" id="{F83660F3-45D1-4CA0-BE2A-E7E6C1B794A4}"/>
                </a:ext>
              </a:extLst>
            </p:cNvPr>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354240947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38" tIns="45719" rIns="91438" bIns="45719" rtlCol="0" anchor="ctr">
            <a:normAutofit/>
          </a:bodyPr>
          <a:lstStyle/>
          <a:p>
            <a:r>
              <a:rPr lang="en-US"/>
              <a:t>Click to edit Master title style</a:t>
            </a:r>
            <a:endParaRPr lang="x-none"/>
          </a:p>
        </p:txBody>
      </p:sp>
      <p:sp>
        <p:nvSpPr>
          <p:cNvPr id="3" name="Text Placeholder 2"/>
          <p:cNvSpPr>
            <a:spLocks noGrp="1"/>
          </p:cNvSpPr>
          <p:nvPr>
            <p:ph type="body" idx="1"/>
          </p:nvPr>
        </p:nvSpPr>
        <p:spPr>
          <a:xfrm>
            <a:off x="838200" y="1825625"/>
            <a:ext cx="10515600" cy="4351339"/>
          </a:xfrm>
          <a:prstGeom prst="rect">
            <a:avLst/>
          </a:prstGeom>
        </p:spPr>
        <p:txBody>
          <a:bodyPr vert="horz" lIns="91438" tIns="45719" rIns="91438" bIns="45719"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2"/>
          </p:nvPr>
        </p:nvSpPr>
        <p:spPr>
          <a:xfrm>
            <a:off x="838200" y="6356351"/>
            <a:ext cx="2743200" cy="365125"/>
          </a:xfrm>
          <a:prstGeom prst="rect">
            <a:avLst/>
          </a:prstGeom>
        </p:spPr>
        <p:txBody>
          <a:bodyPr vert="horz" lIns="91438" tIns="45719" rIns="91438" bIns="45719" rtlCol="0" anchor="ctr"/>
          <a:lstStyle>
            <a:lvl1pPr algn="l">
              <a:defRPr sz="1200">
                <a:solidFill>
                  <a:schemeClr val="tx1">
                    <a:tint val="75000"/>
                  </a:schemeClr>
                </a:solidFill>
              </a:defRPr>
            </a:lvl1pPr>
          </a:lstStyle>
          <a:p>
            <a:fld id="{3237A82C-AEEE-48DB-A866-3B1CA0AC9D5D}" type="datetimeFigureOut">
              <a:rPr lang="x-none" smtClean="0"/>
              <a:t>9/1/2026</a:t>
            </a:fld>
            <a:endParaRPr lang="x-none"/>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38" tIns="45719" rIns="91438" bIns="45719" rtlCol="0" anchor="ctr"/>
          <a:lstStyle>
            <a:lvl1pPr algn="ctr">
              <a:defRPr sz="1200">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38" tIns="45719" rIns="91438" bIns="45719" rtlCol="0" anchor="ctr"/>
          <a:lstStyle>
            <a:lvl1pPr algn="r">
              <a:defRPr sz="1200">
                <a:solidFill>
                  <a:schemeClr val="tx1">
                    <a:tint val="75000"/>
                  </a:schemeClr>
                </a:solidFill>
              </a:defRPr>
            </a:lvl1pPr>
          </a:lstStyle>
          <a:p>
            <a:fld id="{6EB9F7D7-3C9C-4146-9FA1-B77DEB44278D}" type="slidenum">
              <a:rPr lang="x-none" smtClean="0"/>
              <a:t>‹#›</a:t>
            </a:fld>
            <a:endParaRPr lang="x-none"/>
          </a:p>
        </p:txBody>
      </p:sp>
    </p:spTree>
    <p:extLst>
      <p:ext uri="{BB962C8B-B14F-4D97-AF65-F5344CB8AC3E}">
        <p14:creationId xmlns:p14="http://schemas.microsoft.com/office/powerpoint/2010/main" val="210576896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31750"/>
            <a:ext cx="12192000" cy="685800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en-GB" dirty="0"/>
          </a:p>
        </p:txBody>
      </p:sp>
      <p:sp>
        <p:nvSpPr>
          <p:cNvPr id="2" name="Title 1"/>
          <p:cNvSpPr>
            <a:spLocks noGrp="1"/>
          </p:cNvSpPr>
          <p:nvPr>
            <p:ph type="ctrTitle"/>
          </p:nvPr>
        </p:nvSpPr>
        <p:spPr>
          <a:xfrm>
            <a:off x="84137" y="2635037"/>
            <a:ext cx="12023725" cy="2271395"/>
          </a:xfrm>
        </p:spPr>
        <p:txBody>
          <a:bodyPr>
            <a:noAutofit/>
          </a:bodyPr>
          <a:lstStyle/>
          <a:p>
            <a:pPr>
              <a:lnSpc>
                <a:spcPct val="100000"/>
              </a:lnSpc>
              <a:defRPr/>
            </a:pPr>
            <a:r>
              <a:rPr lang="en-US" altLang="ko-KR" sz="4000" b="1" dirty="0">
                <a:solidFill>
                  <a:schemeClr val="accent4"/>
                </a:solidFill>
                <a:cs typeface="Arial" pitchFamily="34" charset="0"/>
              </a:rPr>
              <a:t>Lecture #1</a:t>
            </a:r>
            <a:br>
              <a:rPr lang="en-US" altLang="ko-KR" sz="4000" b="1" dirty="0">
                <a:solidFill>
                  <a:schemeClr val="accent4"/>
                </a:solidFill>
                <a:cs typeface="Arial" pitchFamily="34" charset="0"/>
              </a:rPr>
            </a:br>
            <a:r>
              <a:rPr lang="en-US" altLang="ko-KR" sz="4000" b="1" dirty="0">
                <a:solidFill>
                  <a:schemeClr val="accent4"/>
                </a:solidFill>
                <a:cs typeface="Arial" pitchFamily="34" charset="0"/>
              </a:rPr>
              <a:t>Information Security  </a:t>
            </a:r>
            <a:br>
              <a:rPr lang="en-US" altLang="ko-KR" sz="4000" b="1" dirty="0">
                <a:solidFill>
                  <a:schemeClr val="accent4"/>
                </a:solidFill>
                <a:cs typeface="Arial" pitchFamily="34" charset="0"/>
              </a:rPr>
            </a:br>
            <a:endParaRPr lang="en-US" altLang="ko-KR" sz="4000" b="1" dirty="0">
              <a:solidFill>
                <a:schemeClr val="accent4"/>
              </a:solidFill>
              <a:cs typeface="Arial" pitchFamily="34" charset="0"/>
            </a:endParaRPr>
          </a:p>
        </p:txBody>
      </p:sp>
      <p:pic>
        <p:nvPicPr>
          <p:cNvPr id="10" name="Graphic 9"/>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8362283" y="0"/>
            <a:ext cx="3611691" cy="3611691"/>
          </a:xfrm>
          <a:prstGeom prst="rect">
            <a:avLst/>
          </a:prstGeom>
        </p:spPr>
      </p:pic>
      <p:pic>
        <p:nvPicPr>
          <p:cNvPr id="1026" name="Picture 2" descr="C:\Users\Administrator\Downloads\Screenshot__117_-removebg-preview.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063" y="393485"/>
            <a:ext cx="3067051" cy="16192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9734" y="68792"/>
            <a:ext cx="10515600" cy="1325563"/>
          </a:xfrm>
        </p:spPr>
        <p:txBody>
          <a:bodyPr/>
          <a:lstStyle/>
          <a:p>
            <a:pPr algn="ctr"/>
            <a:r>
              <a:rPr lang="en-US" b="1" dirty="0">
                <a:solidFill>
                  <a:schemeClr val="accent4"/>
                </a:solidFill>
              </a:rPr>
              <a:t>Course Overview</a:t>
            </a:r>
          </a:p>
        </p:txBody>
      </p:sp>
      <p:sp>
        <p:nvSpPr>
          <p:cNvPr id="3" name="Content Placeholder 2"/>
          <p:cNvSpPr>
            <a:spLocks noGrp="1"/>
          </p:cNvSpPr>
          <p:nvPr>
            <p:ph idx="1"/>
          </p:nvPr>
        </p:nvSpPr>
        <p:spPr/>
        <p:txBody>
          <a:bodyPr>
            <a:normAutofit/>
          </a:bodyPr>
          <a:lstStyle/>
          <a:p>
            <a:r>
              <a:rPr lang="en-US" b="1" dirty="0"/>
              <a:t>Name of Course: </a:t>
            </a:r>
            <a:r>
              <a:rPr lang="en-US" dirty="0"/>
              <a:t>Information Security </a:t>
            </a:r>
          </a:p>
          <a:p>
            <a:r>
              <a:rPr lang="en-US" b="1" dirty="0"/>
              <a:t>Credit Hours: </a:t>
            </a:r>
            <a:r>
              <a:rPr lang="en-US" dirty="0" smtClean="0"/>
              <a:t>3(2-1)</a:t>
            </a:r>
            <a:endParaRPr lang="en-US" dirty="0"/>
          </a:p>
          <a:p>
            <a:r>
              <a:rPr lang="en-US" b="1" dirty="0"/>
              <a:t>No. of Lectures per week: </a:t>
            </a:r>
            <a:r>
              <a:rPr lang="en-US" dirty="0"/>
              <a:t>2</a:t>
            </a:r>
            <a:r>
              <a:rPr lang="en-US" dirty="0" smtClean="0"/>
              <a:t> </a:t>
            </a:r>
            <a:r>
              <a:rPr lang="en-US" dirty="0"/>
              <a:t>(Duration 1hr</a:t>
            </a:r>
            <a:r>
              <a:rPr lang="en-US" dirty="0" smtClean="0"/>
              <a:t>)</a:t>
            </a:r>
            <a:endParaRPr lang="en-US" dirty="0"/>
          </a:p>
        </p:txBody>
      </p:sp>
    </p:spTree>
    <p:extLst>
      <p:ext uri="{BB962C8B-B14F-4D97-AF65-F5344CB8AC3E}">
        <p14:creationId xmlns:p14="http://schemas.microsoft.com/office/powerpoint/2010/main" val="85773991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111125"/>
            <a:ext cx="10515600" cy="1325563"/>
          </a:xfrm>
        </p:spPr>
        <p:txBody>
          <a:bodyPr/>
          <a:lstStyle/>
          <a:p>
            <a:pPr algn="ctr"/>
            <a:r>
              <a:rPr lang="en-US" b="1" dirty="0">
                <a:solidFill>
                  <a:schemeClr val="accent4"/>
                </a:solidFill>
              </a:rPr>
              <a:t>Marks Distribution</a:t>
            </a:r>
          </a:p>
        </p:txBody>
      </p:sp>
      <p:sp>
        <p:nvSpPr>
          <p:cNvPr id="3" name="Content Placeholder 2"/>
          <p:cNvSpPr>
            <a:spLocks noGrp="1"/>
          </p:cNvSpPr>
          <p:nvPr>
            <p:ph idx="1"/>
          </p:nvPr>
        </p:nvSpPr>
        <p:spPr/>
        <p:txBody>
          <a:bodyPr/>
          <a:lstStyle/>
          <a:p>
            <a:r>
              <a:rPr lang="en-US" b="1" dirty="0"/>
              <a:t>Internal Assessment</a:t>
            </a:r>
            <a:r>
              <a:rPr lang="en-US" dirty="0"/>
              <a:t>: 35 </a:t>
            </a:r>
            <a:r>
              <a:rPr lang="en-US" dirty="0" smtClean="0"/>
              <a:t>Marks: 10 Quiz, 15 Assignment, 10 </a:t>
            </a:r>
            <a:r>
              <a:rPr lang="en-US" dirty="0" smtClean="0"/>
              <a:t>Sessional (CCP – Complex Computing Problem)</a:t>
            </a:r>
            <a:endParaRPr lang="en-US" dirty="0"/>
          </a:p>
          <a:p>
            <a:r>
              <a:rPr lang="en-US" b="1" dirty="0"/>
              <a:t>Mid Semester Examination</a:t>
            </a:r>
            <a:r>
              <a:rPr lang="en-US" dirty="0"/>
              <a:t>: 25 Marks</a:t>
            </a:r>
          </a:p>
          <a:p>
            <a:r>
              <a:rPr lang="en-US" b="1" dirty="0"/>
              <a:t>Final Semester Examination</a:t>
            </a:r>
            <a:r>
              <a:rPr lang="en-US" dirty="0"/>
              <a:t>: 40 Marks</a:t>
            </a:r>
          </a:p>
          <a:p>
            <a:endParaRPr lang="en-US" dirty="0"/>
          </a:p>
          <a:p>
            <a:endParaRPr lang="en-US" dirty="0"/>
          </a:p>
        </p:txBody>
      </p:sp>
    </p:spTree>
    <p:extLst>
      <p:ext uri="{BB962C8B-B14F-4D97-AF65-F5344CB8AC3E}">
        <p14:creationId xmlns:p14="http://schemas.microsoft.com/office/powerpoint/2010/main" val="12684496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9733" y="161925"/>
            <a:ext cx="10515600" cy="1325563"/>
          </a:xfrm>
        </p:spPr>
        <p:txBody>
          <a:bodyPr/>
          <a:lstStyle/>
          <a:p>
            <a:pPr algn="ctr"/>
            <a:r>
              <a:rPr lang="en-US" b="1" dirty="0">
                <a:solidFill>
                  <a:schemeClr val="accent4"/>
                </a:solidFill>
              </a:rPr>
              <a:t>Rules to Remember</a:t>
            </a:r>
          </a:p>
        </p:txBody>
      </p:sp>
      <p:sp>
        <p:nvSpPr>
          <p:cNvPr id="3" name="Content Placeholder 2"/>
          <p:cNvSpPr>
            <a:spLocks noGrp="1"/>
          </p:cNvSpPr>
          <p:nvPr>
            <p:ph idx="1"/>
          </p:nvPr>
        </p:nvSpPr>
        <p:spPr/>
        <p:txBody>
          <a:bodyPr>
            <a:normAutofit/>
          </a:bodyPr>
          <a:lstStyle/>
          <a:p>
            <a:pPr algn="just"/>
            <a:r>
              <a:rPr lang="en-US" dirty="0"/>
              <a:t>Come to class prepared to learn.</a:t>
            </a:r>
          </a:p>
          <a:p>
            <a:pPr algn="just"/>
            <a:r>
              <a:rPr lang="en-US" dirty="0"/>
              <a:t>Keep your mobiles </a:t>
            </a:r>
            <a:r>
              <a:rPr lang="en-US" b="1" dirty="0"/>
              <a:t>Silent</a:t>
            </a:r>
            <a:r>
              <a:rPr lang="en-US" dirty="0"/>
              <a:t> and keep it inside your bag.</a:t>
            </a:r>
          </a:p>
          <a:p>
            <a:pPr algn="just"/>
            <a:r>
              <a:rPr lang="en-US" dirty="0"/>
              <a:t>Late arrival (5 minutes) </a:t>
            </a:r>
            <a:r>
              <a:rPr lang="en-US" dirty="0" smtClean="0"/>
              <a:t>will be </a:t>
            </a:r>
            <a:r>
              <a:rPr lang="en-US" dirty="0"/>
              <a:t>marked </a:t>
            </a:r>
            <a:r>
              <a:rPr lang="en-US" b="1" dirty="0"/>
              <a:t>Absent</a:t>
            </a:r>
          </a:p>
          <a:p>
            <a:pPr algn="just"/>
            <a:r>
              <a:rPr lang="en-US" dirty="0" smtClean="0"/>
              <a:t>Listen and follow directions.</a:t>
            </a:r>
          </a:p>
          <a:p>
            <a:pPr algn="just"/>
            <a:r>
              <a:rPr lang="en-US" dirty="0" smtClean="0"/>
              <a:t>Actively </a:t>
            </a:r>
            <a:r>
              <a:rPr lang="en-US" dirty="0"/>
              <a:t>participate in classroom activities</a:t>
            </a:r>
          </a:p>
          <a:p>
            <a:pPr algn="just"/>
            <a:r>
              <a:rPr lang="en-US" dirty="0"/>
              <a:t>Ask Questions. </a:t>
            </a:r>
          </a:p>
          <a:p>
            <a:pPr algn="just"/>
            <a:r>
              <a:rPr lang="en-US" dirty="0"/>
              <a:t>Convey your issue to your instructor through your CR. </a:t>
            </a:r>
          </a:p>
        </p:txBody>
      </p:sp>
    </p:spTree>
    <p:extLst>
      <p:ext uri="{BB962C8B-B14F-4D97-AF65-F5344CB8AC3E}">
        <p14:creationId xmlns:p14="http://schemas.microsoft.com/office/powerpoint/2010/main" val="25170816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6666" y="136525"/>
            <a:ext cx="10515600" cy="1325563"/>
          </a:xfrm>
        </p:spPr>
        <p:txBody>
          <a:bodyPr/>
          <a:lstStyle/>
          <a:p>
            <a:pPr algn="ctr"/>
            <a:r>
              <a:rPr lang="en-US" b="1" dirty="0">
                <a:solidFill>
                  <a:schemeClr val="accent4"/>
                </a:solidFill>
              </a:rPr>
              <a:t>Rules for Assignments</a:t>
            </a:r>
          </a:p>
        </p:txBody>
      </p:sp>
      <p:sp>
        <p:nvSpPr>
          <p:cNvPr id="3" name="Content Placeholder 2"/>
          <p:cNvSpPr>
            <a:spLocks noGrp="1"/>
          </p:cNvSpPr>
          <p:nvPr>
            <p:ph idx="1"/>
          </p:nvPr>
        </p:nvSpPr>
        <p:spPr/>
        <p:txBody>
          <a:bodyPr/>
          <a:lstStyle/>
          <a:p>
            <a:pPr algn="just"/>
            <a:r>
              <a:rPr lang="en-US" sz="3200" dirty="0"/>
              <a:t>No extensions will be granted for submission of assignments.</a:t>
            </a:r>
          </a:p>
          <a:p>
            <a:pPr algn="just"/>
            <a:r>
              <a:rPr lang="en-US" sz="3200" dirty="0"/>
              <a:t>Once deadline is over, no assignment will be accepted. </a:t>
            </a:r>
          </a:p>
        </p:txBody>
      </p:sp>
    </p:spTree>
    <p:extLst>
      <p:ext uri="{BB962C8B-B14F-4D97-AF65-F5344CB8AC3E}">
        <p14:creationId xmlns:p14="http://schemas.microsoft.com/office/powerpoint/2010/main" val="3313718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dirty="0"/>
              <a:t>Stay safe online! One mistake can cost your privacy.</a:t>
            </a:r>
          </a:p>
          <a:p>
            <a:pPr marL="0" indent="0">
              <a:buNone/>
            </a:pPr>
            <a:r>
              <a:rPr lang="en-US" dirty="0"/>
              <a:t>Passwords, encryption, and firewalls—your digital shield.</a:t>
            </a:r>
          </a:p>
        </p:txBody>
      </p:sp>
    </p:spTree>
    <p:extLst>
      <p:ext uri="{BB962C8B-B14F-4D97-AF65-F5344CB8AC3E}">
        <p14:creationId xmlns:p14="http://schemas.microsoft.com/office/powerpoint/2010/main" val="39350437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pPr marL="0" indent="0" algn="just">
              <a:buNone/>
            </a:pPr>
            <a:r>
              <a:rPr lang="en-US" b="1" dirty="0"/>
              <a:t>What is Security?</a:t>
            </a:r>
          </a:p>
          <a:p>
            <a:pPr algn="just"/>
            <a:r>
              <a:rPr lang="en-US" dirty="0"/>
              <a:t>Security refers to the protection of systems, data, and resources from threats, attacks, or unauthorized access to ensure safety and reliability.</a:t>
            </a:r>
          </a:p>
          <a:p>
            <a:pPr marL="0" indent="0" algn="just">
              <a:buNone/>
            </a:pPr>
            <a:r>
              <a:rPr lang="en-US" b="1" dirty="0"/>
              <a:t>What is Privacy?</a:t>
            </a:r>
          </a:p>
          <a:p>
            <a:pPr algn="just"/>
            <a:r>
              <a:rPr lang="en-US" dirty="0"/>
              <a:t>Privacy is the right to control personal information and decide how it is collected, used, and shared to prevent misuse or exposure.</a:t>
            </a:r>
          </a:p>
          <a:p>
            <a:pPr marL="0" indent="0" algn="just">
              <a:buNone/>
            </a:pPr>
            <a:r>
              <a:rPr lang="en-US" b="1" dirty="0"/>
              <a:t>What is Information Security?</a:t>
            </a:r>
          </a:p>
          <a:p>
            <a:pPr algn="just"/>
            <a:r>
              <a:rPr lang="en-US" dirty="0"/>
              <a:t>Information security (InfoSec) is the practice of protecting data and information systems from unauthorized access, modification, destruction, or disclosure.</a:t>
            </a:r>
          </a:p>
          <a:p>
            <a:pPr marL="0" indent="0">
              <a:buNone/>
            </a:pPr>
            <a:endParaRPr lang="en-US" dirty="0"/>
          </a:p>
        </p:txBody>
      </p:sp>
    </p:spTree>
    <p:extLst>
      <p:ext uri="{BB962C8B-B14F-4D97-AF65-F5344CB8AC3E}">
        <p14:creationId xmlns:p14="http://schemas.microsoft.com/office/powerpoint/2010/main" val="2831350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7259"/>
            <a:ext cx="10515600" cy="1325563"/>
          </a:xfrm>
        </p:spPr>
        <p:txBody>
          <a:bodyPr/>
          <a:lstStyle/>
          <a:p>
            <a:pPr algn="ctr"/>
            <a:r>
              <a:rPr lang="en-US" b="1" dirty="0">
                <a:solidFill>
                  <a:schemeClr val="accent4"/>
                </a:solidFill>
              </a:rPr>
              <a:t>Computer security</a:t>
            </a:r>
          </a:p>
        </p:txBody>
      </p:sp>
      <p:sp>
        <p:nvSpPr>
          <p:cNvPr id="3" name="Content Placeholder 2"/>
          <p:cNvSpPr>
            <a:spLocks noGrp="1"/>
          </p:cNvSpPr>
          <p:nvPr>
            <p:ph idx="1"/>
          </p:nvPr>
        </p:nvSpPr>
        <p:spPr/>
        <p:txBody>
          <a:bodyPr/>
          <a:lstStyle/>
          <a:p>
            <a:pPr algn="just"/>
            <a:r>
              <a:rPr lang="en-US" dirty="0"/>
              <a:t>Computer security means protecting computer systems and data from harm. It ensures that information stays accurate (integrity), available when needed (availability), and private (confidentiality). This includes protecting hardware, software, and communication networks from threats.</a:t>
            </a:r>
          </a:p>
        </p:txBody>
      </p:sp>
    </p:spTree>
    <p:extLst>
      <p:ext uri="{BB962C8B-B14F-4D97-AF65-F5344CB8AC3E}">
        <p14:creationId xmlns:p14="http://schemas.microsoft.com/office/powerpoint/2010/main" val="8691430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b="1" dirty="0"/>
              <a:t>Confidentiality:</a:t>
            </a:r>
          </a:p>
          <a:p>
            <a:r>
              <a:rPr lang="en-US" dirty="0"/>
              <a:t>Confidentiality means keeping information private and only allowing authorized people to access it. It has two parts:</a:t>
            </a:r>
          </a:p>
          <a:p>
            <a:r>
              <a:rPr lang="en-US" b="1" dirty="0"/>
              <a:t>Data confidentiality</a:t>
            </a:r>
            <a:r>
              <a:rPr lang="en-US" dirty="0"/>
              <a:t> – Ensures that sensitive information is not shared with unauthorized people.</a:t>
            </a:r>
          </a:p>
          <a:p>
            <a:r>
              <a:rPr lang="en-US" b="1" dirty="0"/>
              <a:t>Privacy</a:t>
            </a:r>
            <a:r>
              <a:rPr lang="en-US" dirty="0"/>
              <a:t> – Gives individuals control over their personal information, deciding who can collect, store, and share it.</a:t>
            </a:r>
          </a:p>
          <a:p>
            <a:pPr marL="0" indent="0">
              <a:buNone/>
            </a:pPr>
            <a:endParaRPr lang="en-US" dirty="0"/>
          </a:p>
        </p:txBody>
      </p:sp>
    </p:spTree>
    <p:extLst>
      <p:ext uri="{BB962C8B-B14F-4D97-AF65-F5344CB8AC3E}">
        <p14:creationId xmlns:p14="http://schemas.microsoft.com/office/powerpoint/2010/main" val="25140282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5866" y="144992"/>
            <a:ext cx="10515600" cy="1325563"/>
          </a:xfrm>
        </p:spPr>
        <p:txBody>
          <a:bodyPr/>
          <a:lstStyle/>
          <a:p>
            <a:pPr algn="ctr"/>
            <a:r>
              <a:rPr lang="en-US" b="1" dirty="0">
                <a:solidFill>
                  <a:schemeClr val="accent4"/>
                </a:solidFill>
              </a:rPr>
              <a:t>Privilege Escalation </a:t>
            </a: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53864" y="1813930"/>
            <a:ext cx="7978140" cy="1851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694340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5867" y="144992"/>
            <a:ext cx="10515600" cy="1325563"/>
          </a:xfrm>
        </p:spPr>
        <p:txBody>
          <a:bodyPr/>
          <a:lstStyle/>
          <a:p>
            <a:pPr algn="ctr"/>
            <a:r>
              <a:rPr lang="en-US" b="1" dirty="0">
                <a:solidFill>
                  <a:schemeClr val="accent4"/>
                </a:solidFill>
              </a:rPr>
              <a:t>Evil Twin </a:t>
            </a:r>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3259" y="1708521"/>
            <a:ext cx="10674289" cy="3964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453714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0100" y="0"/>
            <a:ext cx="10515600" cy="1325563"/>
          </a:xfrm>
        </p:spPr>
        <p:txBody>
          <a:bodyPr/>
          <a:lstStyle/>
          <a:p>
            <a:pPr algn="ctr"/>
            <a:r>
              <a:rPr lang="en-US" b="1" dirty="0">
                <a:solidFill>
                  <a:schemeClr val="accent4"/>
                </a:solidFill>
              </a:rPr>
              <a:t>Rogue Access Point</a:t>
            </a:r>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64539" y="1846104"/>
            <a:ext cx="10192395" cy="27893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671123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b="1" dirty="0"/>
              <a:t>Integrity:</a:t>
            </a:r>
          </a:p>
          <a:p>
            <a:r>
              <a:rPr lang="en-US" dirty="0"/>
              <a:t>Integrity ensures that information and systems remain accurate and trustworthy. It has two parts:</a:t>
            </a:r>
          </a:p>
          <a:p>
            <a:r>
              <a:rPr lang="en-US" b="1" dirty="0"/>
              <a:t>Data integrity</a:t>
            </a:r>
            <a:r>
              <a:rPr lang="en-US" dirty="0"/>
              <a:t> – Ensures that information is changed only in a correct and authorized way.</a:t>
            </a:r>
          </a:p>
          <a:p>
            <a:r>
              <a:rPr lang="en-US" b="1" dirty="0"/>
              <a:t>System integrity</a:t>
            </a:r>
            <a:r>
              <a:rPr lang="en-US" dirty="0"/>
              <a:t> – Ensures that a system works properly without being damaged or manipulated.</a:t>
            </a:r>
          </a:p>
          <a:p>
            <a:pPr marL="0" indent="0">
              <a:buNone/>
            </a:pPr>
            <a:endParaRPr lang="en-US" dirty="0"/>
          </a:p>
        </p:txBody>
      </p:sp>
    </p:spTree>
    <p:extLst>
      <p:ext uri="{BB962C8B-B14F-4D97-AF65-F5344CB8AC3E}">
        <p14:creationId xmlns:p14="http://schemas.microsoft.com/office/powerpoint/2010/main" val="10316176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5500" y="98425"/>
            <a:ext cx="10515600" cy="1325563"/>
          </a:xfrm>
        </p:spPr>
        <p:txBody>
          <a:bodyPr/>
          <a:lstStyle/>
          <a:p>
            <a:pPr algn="ctr"/>
            <a:r>
              <a:rPr lang="en-US" b="1" dirty="0">
                <a:solidFill>
                  <a:schemeClr val="accent4"/>
                </a:solidFill>
              </a:rPr>
              <a:t>Skimming</a:t>
            </a:r>
            <a:endParaRPr lang="en-US" dirty="0"/>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17549" y="1707674"/>
            <a:ext cx="10115231" cy="3118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36925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0"/>
            <a:ext cx="10515600" cy="1325563"/>
          </a:xfrm>
        </p:spPr>
        <p:txBody>
          <a:bodyPr/>
          <a:lstStyle/>
          <a:p>
            <a:pPr algn="ctr"/>
            <a:r>
              <a:rPr lang="en-US" b="1" dirty="0">
                <a:solidFill>
                  <a:schemeClr val="accent4"/>
                </a:solidFill>
              </a:rPr>
              <a:t>Skimming </a:t>
            </a:r>
          </a:p>
        </p:txBody>
      </p:sp>
      <p:pic>
        <p:nvPicPr>
          <p:cNvPr id="4098"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6645"/>
          <a:stretch/>
        </p:blipFill>
        <p:spPr bwMode="auto">
          <a:xfrm>
            <a:off x="1188720" y="1892299"/>
            <a:ext cx="9212580" cy="43400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507186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b="1" dirty="0"/>
              <a:t>Availability:</a:t>
            </a:r>
          </a:p>
          <a:p>
            <a:r>
              <a:rPr lang="en-US" dirty="0"/>
              <a:t>Availability means that systems and services work when needed, ensuring authorized users are not blocked from access.</a:t>
            </a:r>
          </a:p>
          <a:p>
            <a:pPr marL="0" indent="0">
              <a:buNone/>
            </a:pPr>
            <a:endParaRPr lang="en-US" dirty="0"/>
          </a:p>
        </p:txBody>
      </p:sp>
    </p:spTree>
    <p:extLst>
      <p:ext uri="{BB962C8B-B14F-4D97-AF65-F5344CB8AC3E}">
        <p14:creationId xmlns:p14="http://schemas.microsoft.com/office/powerpoint/2010/main" val="32607253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0100" y="0"/>
            <a:ext cx="10515600" cy="1325563"/>
          </a:xfrm>
        </p:spPr>
        <p:txBody>
          <a:bodyPr/>
          <a:lstStyle/>
          <a:p>
            <a:pPr algn="ctr"/>
            <a:r>
              <a:rPr lang="en-US" b="1" dirty="0">
                <a:solidFill>
                  <a:schemeClr val="accent4"/>
                </a:solidFill>
              </a:rPr>
              <a:t>BOTS</a:t>
            </a:r>
          </a:p>
        </p:txBody>
      </p:sp>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99440" y="1413034"/>
            <a:ext cx="10052726" cy="2854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981448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92809" y="1914684"/>
            <a:ext cx="9575517" cy="22890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t="6336"/>
          <a:stretch/>
        </p:blipFill>
        <p:spPr bwMode="auto">
          <a:xfrm>
            <a:off x="914400" y="4013200"/>
            <a:ext cx="9601200" cy="26257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452352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0100" y="-92075"/>
            <a:ext cx="10515600" cy="1325563"/>
          </a:xfrm>
        </p:spPr>
        <p:txBody>
          <a:bodyPr/>
          <a:lstStyle/>
          <a:p>
            <a:pPr algn="ctr"/>
            <a:r>
              <a:rPr lang="en-US" b="1" dirty="0">
                <a:solidFill>
                  <a:schemeClr val="accent4"/>
                </a:solidFill>
              </a:rPr>
              <a:t>DDOS</a:t>
            </a:r>
          </a:p>
        </p:txBody>
      </p:sp>
      <p:pic>
        <p:nvPicPr>
          <p:cNvPr id="819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3120" y="1993424"/>
            <a:ext cx="10134694" cy="2045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716483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pPr marL="0" indent="0">
              <a:buNone/>
            </a:pPr>
            <a:r>
              <a:rPr lang="en-US" b="1" dirty="0"/>
              <a:t>FIPS 199 Security Objectives (CIA Triad):</a:t>
            </a:r>
          </a:p>
          <a:p>
            <a:r>
              <a:rPr lang="en-US" b="1" dirty="0"/>
              <a:t>Confidentiality</a:t>
            </a:r>
            <a:r>
              <a:rPr lang="en-US" dirty="0"/>
              <a:t> – Ensures that sensitive information is accessible only to authorized individuals. Unauthorized access or disclosure results in a loss of confidentiality.</a:t>
            </a:r>
          </a:p>
          <a:p>
            <a:r>
              <a:rPr lang="en-US" b="1" dirty="0"/>
              <a:t>Integrity</a:t>
            </a:r>
            <a:r>
              <a:rPr lang="en-US" dirty="0"/>
              <a:t> – Protects information from being altered or destroyed in an unauthorized way. This also includes ensuring authenticity and preventing data tampering. A loss of integrity means the data has been modified, deleted, or corrupted.</a:t>
            </a:r>
          </a:p>
          <a:p>
            <a:r>
              <a:rPr lang="en-US" b="1" dirty="0"/>
              <a:t>Availability</a:t>
            </a:r>
            <a:r>
              <a:rPr lang="en-US" dirty="0"/>
              <a:t> – Ensures that information and systems are accessible when needed by authorized users. A loss of availability means that users cannot access the system due to disruptions or attacks.</a:t>
            </a:r>
          </a:p>
          <a:p>
            <a:pPr marL="0" indent="0">
              <a:buNone/>
            </a:pPr>
            <a:endParaRPr lang="en-US" dirty="0"/>
          </a:p>
        </p:txBody>
      </p:sp>
    </p:spTree>
    <p:extLst>
      <p:ext uri="{BB962C8B-B14F-4D97-AF65-F5344CB8AC3E}">
        <p14:creationId xmlns:p14="http://schemas.microsoft.com/office/powerpoint/2010/main" val="1909877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b="1" dirty="0"/>
              <a:t>Additional Security Concepts:</a:t>
            </a:r>
          </a:p>
          <a:p>
            <a:r>
              <a:rPr lang="en-US" b="1" dirty="0"/>
              <a:t>Authenticity</a:t>
            </a:r>
            <a:r>
              <a:rPr lang="en-US" dirty="0"/>
              <a:t> – Ensures that data, messages, and users are genuine and can be verified. This prevents impersonation and fraud.</a:t>
            </a:r>
          </a:p>
          <a:p>
            <a:r>
              <a:rPr lang="en-US" b="1" dirty="0"/>
              <a:t>Accountability</a:t>
            </a:r>
            <a:r>
              <a:rPr lang="en-US" dirty="0"/>
              <a:t> – Ensures that actions within a system can be traced to the responsible person. This helps in tracking security breaches, preventing fraud, and supporting legal investigations.</a:t>
            </a:r>
          </a:p>
          <a:p>
            <a:r>
              <a:rPr lang="en-US" dirty="0"/>
              <a:t>These principles form the foundation of information security, ensuring systems remain safe, trustworthy, and reliable.</a:t>
            </a:r>
          </a:p>
          <a:p>
            <a:pPr marL="0" indent="0">
              <a:buNone/>
            </a:pPr>
            <a:endParaRPr lang="en-US" dirty="0"/>
          </a:p>
        </p:txBody>
      </p:sp>
    </p:spTree>
    <p:extLst>
      <p:ext uri="{BB962C8B-B14F-4D97-AF65-F5344CB8AC3E}">
        <p14:creationId xmlns:p14="http://schemas.microsoft.com/office/powerpoint/2010/main" val="7132634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763331237"/>
              </p:ext>
            </p:extLst>
          </p:nvPr>
        </p:nvGraphicFramePr>
        <p:xfrm>
          <a:off x="374754" y="2083632"/>
          <a:ext cx="11272605" cy="3600689"/>
        </p:xfrm>
        <a:graphic>
          <a:graphicData uri="http://schemas.openxmlformats.org/drawingml/2006/table">
            <a:tbl>
              <a:tblPr firstRow="1" bandRow="1">
                <a:tableStyleId>{284E427A-3D55-4303-BF80-6455036E1DE7}</a:tableStyleId>
              </a:tblPr>
              <a:tblGrid>
                <a:gridCol w="3757535">
                  <a:extLst>
                    <a:ext uri="{9D8B030D-6E8A-4147-A177-3AD203B41FA5}">
                      <a16:colId xmlns:a16="http://schemas.microsoft.com/office/drawing/2014/main" val="1544602244"/>
                    </a:ext>
                  </a:extLst>
                </a:gridCol>
                <a:gridCol w="3757535">
                  <a:extLst>
                    <a:ext uri="{9D8B030D-6E8A-4147-A177-3AD203B41FA5}">
                      <a16:colId xmlns:a16="http://schemas.microsoft.com/office/drawing/2014/main" val="1579051709"/>
                    </a:ext>
                  </a:extLst>
                </a:gridCol>
                <a:gridCol w="3757535">
                  <a:extLst>
                    <a:ext uri="{9D8B030D-6E8A-4147-A177-3AD203B41FA5}">
                      <a16:colId xmlns:a16="http://schemas.microsoft.com/office/drawing/2014/main" val="2871043474"/>
                    </a:ext>
                  </a:extLst>
                </a:gridCol>
              </a:tblGrid>
              <a:tr h="592843">
                <a:tc>
                  <a:txBody>
                    <a:bodyPr/>
                    <a:lstStyle/>
                    <a:p>
                      <a:r>
                        <a:rPr lang="en-US" sz="2800" dirty="0" smtClean="0"/>
                        <a:t>Pillar</a:t>
                      </a:r>
                      <a:endParaRPr lang="en-US" sz="2800" dirty="0"/>
                    </a:p>
                  </a:txBody>
                  <a:tcPr>
                    <a:lnL w="6350" cap="flat" cmpd="sng" algn="ctr">
                      <a:noFill/>
                      <a:prstDash val="solid"/>
                      <a:miter lim="800000"/>
                    </a:lnL>
                    <a:lnR>
                      <a:noFill/>
                    </a:lnR>
                    <a:lnT w="635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solidFill>
                      <a:srgbClr val="D32A2A"/>
                    </a:solidFill>
                  </a:tcPr>
                </a:tc>
                <a:tc>
                  <a:txBody>
                    <a:bodyPr/>
                    <a:lstStyle/>
                    <a:p>
                      <a:r>
                        <a:rPr lang="en-US" sz="2800" dirty="0" smtClean="0"/>
                        <a:t>What it Protects</a:t>
                      </a:r>
                      <a:endParaRPr lang="en-US" sz="2800" dirty="0"/>
                    </a:p>
                  </a:txBody>
                  <a:tcPr>
                    <a:lnL>
                      <a:noFill/>
                    </a:lnL>
                    <a:lnR>
                      <a:noFill/>
                    </a:lnR>
                    <a:lnT w="635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solidFill>
                      <a:srgbClr val="D32A2A"/>
                    </a:solidFill>
                  </a:tcPr>
                </a:tc>
                <a:tc>
                  <a:txBody>
                    <a:bodyPr/>
                    <a:lstStyle/>
                    <a:p>
                      <a:r>
                        <a:rPr lang="en-US" sz="2800" dirty="0" smtClean="0"/>
                        <a:t>Attacks that break it</a:t>
                      </a:r>
                      <a:endParaRPr lang="en-US" sz="2800" dirty="0"/>
                    </a:p>
                  </a:txBody>
                  <a:tcPr>
                    <a:lnL>
                      <a:noFill/>
                    </a:lnL>
                    <a:lnR w="6350" cap="flat" cmpd="sng" algn="ctr">
                      <a:noFill/>
                      <a:prstDash val="solid"/>
                      <a:miter lim="800000"/>
                    </a:lnR>
                    <a:lnT w="635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solidFill>
                      <a:srgbClr val="D32A2A"/>
                    </a:solidFill>
                  </a:tcPr>
                </a:tc>
                <a:extLst>
                  <a:ext uri="{0D108BD9-81ED-4DB2-BD59-A6C34878D82A}">
                    <a16:rowId xmlns:a16="http://schemas.microsoft.com/office/drawing/2014/main" val="2349347055"/>
                  </a:ext>
                </a:extLst>
              </a:tr>
              <a:tr h="1043403">
                <a:tc>
                  <a:txBody>
                    <a:bodyPr/>
                    <a:lstStyle/>
                    <a:p>
                      <a:r>
                        <a:rPr lang="en-US" sz="2800" dirty="0" smtClean="0"/>
                        <a:t>Confidentiality</a:t>
                      </a:r>
                      <a:endParaRPr lang="en-US" sz="2800" dirty="0"/>
                    </a:p>
                  </a:txBody>
                  <a:tcPr>
                    <a:lnT w="12700" cap="flat" cmpd="sng" algn="ctr">
                      <a:noFill/>
                      <a:prstDash val="solid"/>
                      <a:miter lim="800000"/>
                    </a:lnT>
                  </a:tcPr>
                </a:tc>
                <a:tc>
                  <a:txBody>
                    <a:bodyPr/>
                    <a:lstStyle/>
                    <a:p>
                      <a:r>
                        <a:rPr lang="en-US" sz="2800" dirty="0" smtClean="0"/>
                        <a:t>Who can see data</a:t>
                      </a:r>
                      <a:endParaRPr lang="en-US" sz="2800" dirty="0"/>
                    </a:p>
                  </a:txBody>
                  <a:tcPr>
                    <a:lnT w="12700" cap="flat" cmpd="sng" algn="ctr">
                      <a:noFill/>
                      <a:prstDash val="solid"/>
                      <a:miter lim="800000"/>
                    </a:lnT>
                  </a:tcPr>
                </a:tc>
                <a:tc>
                  <a:txBody>
                    <a:bodyPr/>
                    <a:lstStyle/>
                    <a:p>
                      <a:r>
                        <a:rPr lang="en-US" sz="2800" dirty="0" smtClean="0"/>
                        <a:t>Privilege</a:t>
                      </a:r>
                      <a:r>
                        <a:rPr lang="en-US" sz="2800" baseline="0" dirty="0" smtClean="0"/>
                        <a:t> Escalation, Evil Twin, Rogue Access Point</a:t>
                      </a:r>
                      <a:endParaRPr lang="en-US" sz="2800" dirty="0"/>
                    </a:p>
                  </a:txBody>
                  <a:tcPr>
                    <a:lnT w="12700" cap="flat" cmpd="sng" algn="ctr">
                      <a:noFill/>
                      <a:prstDash val="solid"/>
                      <a:miter lim="800000"/>
                    </a:lnT>
                  </a:tcPr>
                </a:tc>
                <a:extLst>
                  <a:ext uri="{0D108BD9-81ED-4DB2-BD59-A6C34878D82A}">
                    <a16:rowId xmlns:a16="http://schemas.microsoft.com/office/drawing/2014/main" val="296396805"/>
                  </a:ext>
                </a:extLst>
              </a:tr>
              <a:tr h="1043403">
                <a:tc>
                  <a:txBody>
                    <a:bodyPr/>
                    <a:lstStyle/>
                    <a:p>
                      <a:r>
                        <a:rPr lang="en-US" sz="2800" dirty="0" smtClean="0"/>
                        <a:t>Integrity</a:t>
                      </a:r>
                      <a:endParaRPr lang="en-US" sz="2800" dirty="0"/>
                    </a:p>
                  </a:txBody>
                  <a:tcPr/>
                </a:tc>
                <a:tc>
                  <a:txBody>
                    <a:bodyPr/>
                    <a:lstStyle/>
                    <a:p>
                      <a:r>
                        <a:rPr lang="en-US" sz="2800" dirty="0" smtClean="0"/>
                        <a:t>Whether data can be trusted</a:t>
                      </a:r>
                      <a:endParaRPr lang="en-US" sz="2800" dirty="0"/>
                    </a:p>
                  </a:txBody>
                  <a:tcPr/>
                </a:tc>
                <a:tc>
                  <a:txBody>
                    <a:bodyPr/>
                    <a:lstStyle/>
                    <a:p>
                      <a:r>
                        <a:rPr lang="en-US" sz="2800" dirty="0" smtClean="0"/>
                        <a:t>Skimming (card cloning/fraud)</a:t>
                      </a:r>
                      <a:endParaRPr lang="en-US" sz="2800" dirty="0"/>
                    </a:p>
                  </a:txBody>
                  <a:tcPr/>
                </a:tc>
                <a:extLst>
                  <a:ext uri="{0D108BD9-81ED-4DB2-BD59-A6C34878D82A}">
                    <a16:rowId xmlns:a16="http://schemas.microsoft.com/office/drawing/2014/main" val="3487498968"/>
                  </a:ext>
                </a:extLst>
              </a:tr>
              <a:tr h="592843">
                <a:tc>
                  <a:txBody>
                    <a:bodyPr/>
                    <a:lstStyle/>
                    <a:p>
                      <a:r>
                        <a:rPr lang="en-US" sz="2800" dirty="0" smtClean="0"/>
                        <a:t>Availability</a:t>
                      </a:r>
                      <a:endParaRPr lang="en-US" sz="2800" dirty="0"/>
                    </a:p>
                  </a:txBody>
                  <a:tcPr/>
                </a:tc>
                <a:tc>
                  <a:txBody>
                    <a:bodyPr/>
                    <a:lstStyle/>
                    <a:p>
                      <a:r>
                        <a:rPr lang="en-US" sz="2800" dirty="0" smtClean="0"/>
                        <a:t>Whether</a:t>
                      </a:r>
                      <a:r>
                        <a:rPr lang="en-US" sz="2800" baseline="0" dirty="0" smtClean="0"/>
                        <a:t> you can use it</a:t>
                      </a:r>
                      <a:endParaRPr lang="en-US" sz="2800" dirty="0"/>
                    </a:p>
                  </a:txBody>
                  <a:tcPr/>
                </a:tc>
                <a:tc>
                  <a:txBody>
                    <a:bodyPr/>
                    <a:lstStyle/>
                    <a:p>
                      <a:r>
                        <a:rPr lang="en-US" sz="2800" dirty="0" smtClean="0"/>
                        <a:t>Bots→ Botnet → </a:t>
                      </a:r>
                      <a:r>
                        <a:rPr lang="en-US" sz="2800" dirty="0" err="1" smtClean="0"/>
                        <a:t>DDoS</a:t>
                      </a:r>
                      <a:endParaRPr lang="en-US" sz="2800" dirty="0"/>
                    </a:p>
                  </a:txBody>
                  <a:tcPr/>
                </a:tc>
                <a:extLst>
                  <a:ext uri="{0D108BD9-81ED-4DB2-BD59-A6C34878D82A}">
                    <a16:rowId xmlns:a16="http://schemas.microsoft.com/office/drawing/2014/main" val="262341668"/>
                  </a:ext>
                </a:extLst>
              </a:tr>
            </a:tbl>
          </a:graphicData>
        </a:graphic>
      </p:graphicFrame>
    </p:spTree>
    <p:extLst>
      <p:ext uri="{BB962C8B-B14F-4D97-AF65-F5344CB8AC3E}">
        <p14:creationId xmlns:p14="http://schemas.microsoft.com/office/powerpoint/2010/main" val="1252538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Lecture 6">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689</TotalTime>
  <Words>669</Words>
  <Application>Microsoft Office PowerPoint</Application>
  <PresentationFormat>Widescreen</PresentationFormat>
  <Paragraphs>69</Paragraphs>
  <Slides>22</Slides>
  <Notes>1</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22</vt:i4>
      </vt:variant>
    </vt:vector>
  </HeadingPairs>
  <TitlesOfParts>
    <vt:vector size="29" baseType="lpstr">
      <vt:lpstr>맑은 고딕</vt:lpstr>
      <vt:lpstr>Arial</vt:lpstr>
      <vt:lpstr>Calibri</vt:lpstr>
      <vt:lpstr>Calibri Light</vt:lpstr>
      <vt:lpstr>Office Theme</vt:lpstr>
      <vt:lpstr>Lecture 6</vt:lpstr>
      <vt:lpstr>1_Office Theme</vt:lpstr>
      <vt:lpstr>Lecture #1 Information Security   </vt:lpstr>
      <vt:lpstr>Course Overview</vt:lpstr>
      <vt:lpstr>Marks Distribution</vt:lpstr>
      <vt:lpstr>Rules to Remember</vt:lpstr>
      <vt:lpstr>Rules for Assignments</vt:lpstr>
      <vt:lpstr>PowerPoint Presentation</vt:lpstr>
      <vt:lpstr>PowerPoint Presentation</vt:lpstr>
      <vt:lpstr>Computer security</vt:lpstr>
      <vt:lpstr>PowerPoint Presentation</vt:lpstr>
      <vt:lpstr>Privilege Escalation </vt:lpstr>
      <vt:lpstr>Evil Twin </vt:lpstr>
      <vt:lpstr>Rogue Access Point</vt:lpstr>
      <vt:lpstr>PowerPoint Presentation</vt:lpstr>
      <vt:lpstr>Skimming</vt:lpstr>
      <vt:lpstr>Skimming </vt:lpstr>
      <vt:lpstr>PowerPoint Presentation</vt:lpstr>
      <vt:lpstr>BOTS</vt:lpstr>
      <vt:lpstr>PowerPoint Presentation</vt:lpstr>
      <vt:lpstr>DDOS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Sofia Sultana</dc:creator>
  <cp:lastModifiedBy>shaina laraib</cp:lastModifiedBy>
  <cp:revision>164</cp:revision>
  <dcterms:created xsi:type="dcterms:W3CDTF">2024-06-21T09:49:00Z</dcterms:created>
  <dcterms:modified xsi:type="dcterms:W3CDTF">2026-09-01T05:18:33Z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D61AE8DE3F6049F98ADA58C240837B38_12</vt:lpwstr>
  </property>
  <property fmtid="{D5CDD505-2E9C-101B-9397-08002B2CF9AE}" pid="3" name="KSOProductBuildVer">
    <vt:lpwstr>1033-12.2.0.13472</vt:lpwstr>
  </property>
</Properties>
</file>