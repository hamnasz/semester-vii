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9"/>
  </p:notesMasterIdLst>
  <p:sldIdLst>
    <p:sldId id="373" r:id="rId2"/>
    <p:sldId id="372" r:id="rId3"/>
    <p:sldId id="374" r:id="rId4"/>
    <p:sldId id="388" r:id="rId5"/>
    <p:sldId id="375" r:id="rId6"/>
    <p:sldId id="377" r:id="rId7"/>
    <p:sldId id="378" r:id="rId8"/>
    <p:sldId id="379" r:id="rId9"/>
    <p:sldId id="380" r:id="rId10"/>
    <p:sldId id="327" r:id="rId11"/>
    <p:sldId id="387" r:id="rId12"/>
    <p:sldId id="382" r:id="rId13"/>
    <p:sldId id="385" r:id="rId14"/>
    <p:sldId id="383" r:id="rId15"/>
    <p:sldId id="384" r:id="rId16"/>
    <p:sldId id="386" r:id="rId17"/>
    <p:sldId id="38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65D338-83D6-43BC-A9F2-8241AB26DD03}" v="64" dt="2026-08-06T15:00:01.3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06" autoAdjust="0"/>
    <p:restoredTop sz="94000" autoAdjust="0"/>
  </p:normalViewPr>
  <p:slideViewPr>
    <p:cSldViewPr>
      <p:cViewPr>
        <p:scale>
          <a:sx n="66" d="100"/>
          <a:sy n="66" d="100"/>
        </p:scale>
        <p:origin x="1104" y="3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1716F3-C0FF-409D-AEEC-84F22882EAA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5005F-5A55-4DEB-81BB-D552A82C0D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90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59026-5063-49E6-BD51-AAACAEBED3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8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FCCB-1DE9-4D95-9196-6C2994CAA5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9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9E51D-110C-403C-AA7C-35AF6AFA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3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E6DD-D9D5-4486-9342-B054958FF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62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8E6DD-D9D5-4486-9342-B054958FF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08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DBA2F-8476-412C-A4D4-6A3067AA5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4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334C8-F9DF-4863-B5FC-EC11C0A7CB4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4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71412-6A79-48CB-9A26-1F7863879E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88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3013-B89E-4955-8FC3-9AF9DB4116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97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884E7B-F781-49B9-890A-EC83B5B9F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5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E26E0-8D09-450F-9A0C-4EE87DF74D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4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8E6DD-D9D5-4486-9342-B054958FF9A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04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35442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51560"/>
            <a:ext cx="6766560" cy="1859279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Car Diagnostic System</a:t>
            </a:r>
            <a:endParaRPr lang="en-GB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977639"/>
            <a:ext cx="6766560" cy="219456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endParaRPr lang="en-US" dirty="0">
              <a:solidFill>
                <a:schemeClr val="bg1"/>
              </a:solidFill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b="1" dirty="0" err="1">
                <a:solidFill>
                  <a:schemeClr val="bg1"/>
                </a:solidFill>
              </a:rPr>
              <a:t>Zunaira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(2023-BS-AI-</a:t>
            </a: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121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en-OM" sz="2200" b="1" dirty="0">
              <a:solidFill>
                <a:schemeClr val="bg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OM" sz="2200" b="1" dirty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 err="1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</a:t>
            </a:r>
            <a:r>
              <a:rPr lang="en-US" sz="2200" b="1" dirty="0" err="1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aizamehak</a:t>
            </a: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(2023-BS-AI-</a:t>
            </a: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72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en-OM" sz="2200" b="1" dirty="0">
              <a:solidFill>
                <a:schemeClr val="bg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OM" sz="2200" b="1" dirty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SAQLAIN RAJPOOT 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(2023-BS-AI-</a:t>
            </a:r>
            <a:r>
              <a:rPr lang="en-US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98</a:t>
            </a:r>
            <a:r>
              <a:rPr lang="en-OM" sz="2200" b="1" dirty="0" smtClean="0">
                <a:solidFill>
                  <a:schemeClr val="bg1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en-OM" sz="2200" b="1" dirty="0">
              <a:solidFill>
                <a:schemeClr val="bg1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 txBox="1">
            <a:spLocks/>
          </p:cNvSpPr>
          <p:nvPr/>
        </p:nvSpPr>
        <p:spPr>
          <a:xfrm>
            <a:off x="8534400" y="6248400"/>
            <a:ext cx="3485144" cy="40599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1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1A657C2-5116-4AC9-B2B1-B693BB4733A9}"/>
              </a:ext>
            </a:extLst>
          </p:cNvPr>
          <p:cNvSpPr txBox="1">
            <a:spLocks/>
          </p:cNvSpPr>
          <p:nvPr/>
        </p:nvSpPr>
        <p:spPr>
          <a:xfrm>
            <a:off x="6019800" y="4648200"/>
            <a:ext cx="57150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3200" b="1" dirty="0">
              <a:solidFill>
                <a:schemeClr val="bg1"/>
              </a:solidFill>
            </a:endParaRPr>
          </a:p>
          <a:p>
            <a:endParaRPr lang="en-US" sz="3200" b="1" dirty="0">
              <a:solidFill>
                <a:schemeClr val="bg1"/>
              </a:solidFill>
            </a:endParaRPr>
          </a:p>
        </p:txBody>
      </p:sp>
      <p:grpSp>
        <p:nvGrpSpPr>
          <p:cNvPr id="9" name="Group 6"/>
          <p:cNvGrpSpPr/>
          <p:nvPr/>
        </p:nvGrpSpPr>
        <p:grpSpPr>
          <a:xfrm>
            <a:off x="8001000" y="0"/>
            <a:ext cx="4226442" cy="6858000"/>
            <a:chOff x="0" y="0"/>
            <a:chExt cx="9608464" cy="13726719"/>
          </a:xfrm>
        </p:grpSpPr>
        <p:sp>
          <p:nvSpPr>
            <p:cNvPr id="11" name="Freeform 7"/>
            <p:cNvSpPr/>
            <p:nvPr/>
          </p:nvSpPr>
          <p:spPr>
            <a:xfrm>
              <a:off x="0" y="0"/>
              <a:ext cx="9608439" cy="13726668"/>
            </a:xfrm>
            <a:custGeom>
              <a:avLst/>
              <a:gdLst/>
              <a:ahLst/>
              <a:cxnLst/>
              <a:rect l="l" t="t" r="r" b="b"/>
              <a:pathLst>
                <a:path w="9608439" h="13726668">
                  <a:moveTo>
                    <a:pt x="0" y="0"/>
                  </a:moveTo>
                  <a:lnTo>
                    <a:pt x="9608439" y="0"/>
                  </a:lnTo>
                  <a:lnTo>
                    <a:pt x="9608439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r="-1"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88811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48640" y="1676399"/>
            <a:ext cx="11091672" cy="876085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Context &amp; Problem</a:t>
            </a:r>
            <a:r>
              <a:rPr lang="en-OM" dirty="0"/>
              <a:t/>
            </a:r>
            <a:br>
              <a:rPr lang="en-OM" dirty="0"/>
            </a:br>
            <a:endParaRPr lang="en-US" dirty="0">
              <a:ea typeface="Calibri Light"/>
              <a:cs typeface="Calibri Ligh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48640" y="1115735"/>
            <a:ext cx="9257919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 damage is not properly monitored on Pakistani roads.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Damaged vehicles may continue operating without inspection.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checking is time-consuming and limited.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Serious damage may go unnoticed or undocumented.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is needed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damage and identify vehicles automatically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7465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B01E-062E-D6DE-754A-FDB254656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5FEAB70D-A1B6-BBC0-6129-4899DE55B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491" y="1305319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Proposed System Overview</a:t>
            </a:r>
            <a:r>
              <a:rPr lang="en-OM" dirty="0"/>
              <a:t/>
            </a:r>
            <a:br>
              <a:rPr lang="en-OM" dirty="0"/>
            </a:br>
            <a:endParaRPr lang="en-US" b="1" dirty="0">
              <a:ea typeface="Calibri Light"/>
              <a:cs typeface="Calibri Ligh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0D4D821-F65D-865F-6CE2-3A9DCC2FA635}"/>
              </a:ext>
            </a:extLst>
          </p:cNvPr>
          <p:cNvGrpSpPr/>
          <p:nvPr/>
        </p:nvGrpSpPr>
        <p:grpSpPr>
          <a:xfrm>
            <a:off x="-15240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BBBFE2-C89A-5768-6A48-A3105170FBFC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E75621-A528-C5FD-6967-98464FFE3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92805F-D7E1-532E-65BF-45F9CFF500F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8F79F748-A555-E618-A531-905CAFAA5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BD7F67-BC59-44F0-2472-0191971C36E6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CC842E98-2767-483F-72C6-4D85F0A5E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9E10AA4-019F-BA34-ABFA-1F3CD3702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510330" y="1745076"/>
            <a:ext cx="78184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AI-based system to detect visible car damage using images or videos.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damaged vehicle parts.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 Pakistani license plates to identify vehicles.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web dashboard and mobile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Sends notifications to vehicle owners about detected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vehicle damage records for traffic authorities </a:t>
            </a:r>
          </a:p>
        </p:txBody>
      </p:sp>
    </p:spTree>
    <p:extLst>
      <p:ext uri="{BB962C8B-B14F-4D97-AF65-F5344CB8AC3E}">
        <p14:creationId xmlns:p14="http://schemas.microsoft.com/office/powerpoint/2010/main" val="221258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468C-2160-AFD9-3422-E5CCD53E4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5C5B19E-26B7-AF09-B885-C673CA34B9BA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488C44-AE60-767D-1BFD-EA4C8B5CBFA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99F4414-167E-133F-A9DA-0A651869D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0F76EE-E821-D88A-216A-D6F07DFF6CF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9AF0A717-98AC-277C-4E5F-634F40C66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753A2E-4BEE-0C55-9910-3C79C1D4D071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17090984-53A9-28DC-A59F-F2B11B830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0C8C040-1115-5631-DCE1-579476490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271053"/>
            <a:ext cx="10058400" cy="505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56B63-2689-6F7D-F3FB-33A641796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E69DCCF-36F5-65DE-AC6A-34B28EF0B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8640" y="1371600"/>
            <a:ext cx="11091672" cy="731520"/>
          </a:xfrm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Key Features </a:t>
            </a:r>
            <a:endParaRPr lang="en-OM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737E69-6667-1BA6-43F1-EB645975CDCA}"/>
              </a:ext>
            </a:extLst>
          </p:cNvPr>
          <p:cNvGrpSpPr/>
          <p:nvPr/>
        </p:nvGrpSpPr>
        <p:grpSpPr>
          <a:xfrm>
            <a:off x="0" y="-6752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751DB81-C637-AD80-85B5-404992A7118E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C54184-DAF5-ED72-9374-B0251B19B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A6772ED-62E5-8165-99A7-77D153BDB75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C5A33104-45AB-6F22-4A15-F7A3879F6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98D24F-AD72-AE1A-6A9B-3D310B2F2AD3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4B7E452D-C6BF-4DE4-FCD2-4044232AB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BBAA7D9-CC03-24BC-C71B-763BEB0A3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548640" y="2209800"/>
            <a:ext cx="599555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damage detection using Computer Vision.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Pakistani license plate </a:t>
            </a:r>
            <a:r>
              <a:rPr kumimoji="0" lang="en-US" altLang="en-US" sz="20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vehicle identification.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 severity detection to identify the level of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48-hour owner notification before further 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and mobile app for easy monitoring.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 records of vehicle damage and incidents </a:t>
            </a:r>
          </a:p>
        </p:txBody>
      </p:sp>
    </p:spTree>
    <p:extLst>
      <p:ext uri="{BB962C8B-B14F-4D97-AF65-F5344CB8AC3E}">
        <p14:creationId xmlns:p14="http://schemas.microsoft.com/office/powerpoint/2010/main" val="3295441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85F3-4B87-2A66-16EA-6FBE59DD1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AA953136-8558-275D-0B1E-BAB45159056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E70AFC8-B8FA-0C45-43D4-39F13025EBE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FDF0CFF-4569-AD68-9D28-FD0F58675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4C7C61-30D8-2DCE-7FFF-A4FE9E62B9E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BC08B8FC-87A6-33FB-6007-DCE16C542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B174BB-4394-9F1C-E5DB-25ED444607B8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C7892EB2-DC28-168B-F8C8-80A7983C1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0AE17F5-8B76-1F60-F5C7-6FF8C622D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0EA5B2E5-A822-9E8C-B1D3-80184BAAF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00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Literature Study</a:t>
            </a:r>
            <a:r>
              <a:rPr lang="en-OM" dirty="0"/>
              <a:t/>
            </a:r>
            <a:br>
              <a:rPr lang="en-OM" dirty="0"/>
            </a:b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5031"/>
              </p:ext>
            </p:extLst>
          </p:nvPr>
        </p:nvGraphicFramePr>
        <p:xfrm>
          <a:off x="1828800" y="2209802"/>
          <a:ext cx="8314144" cy="34289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7072">
                  <a:extLst>
                    <a:ext uri="{9D8B030D-6E8A-4147-A177-3AD203B41FA5}">
                      <a16:colId xmlns:a16="http://schemas.microsoft.com/office/drawing/2014/main" val="3962906239"/>
                    </a:ext>
                  </a:extLst>
                </a:gridCol>
                <a:gridCol w="4157072">
                  <a:extLst>
                    <a:ext uri="{9D8B030D-6E8A-4147-A177-3AD203B41FA5}">
                      <a16:colId xmlns:a16="http://schemas.microsoft.com/office/drawing/2014/main" val="3321263146"/>
                    </a:ext>
                  </a:extLst>
                </a:gridCol>
              </a:tblGrid>
              <a:tr h="558209"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Related 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203044"/>
                  </a:ext>
                </a:extLst>
              </a:tr>
              <a:tr h="5582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 Damage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detects vehicle damage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38782"/>
                  </a:ext>
                </a:extLst>
              </a:tr>
              <a:tr h="63795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 Vision Damage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designed for Pakistani roads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8772249"/>
                  </a:ext>
                </a:extLst>
              </a:tr>
              <a:tr h="55820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Insoore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focused on insurance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471103"/>
                  </a:ext>
                </a:extLst>
              </a:tr>
              <a:tr h="55820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CarDD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international vehicle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4707850"/>
                  </a:ext>
                </a:extLst>
              </a:tr>
              <a:tr h="55820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YOLO-based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local adaptation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85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599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57876-9AF3-CBF9-3000-BABCF1857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72F0984-C299-A806-0C1E-ECB5C0C0FEBF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E22D153-ECAD-1B4E-726A-392CDAF93EA8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A4120E0-BD6D-325C-9298-DC5A44E9B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4268AB-05DA-A207-0BCD-49F29892C720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60734593-2CC1-C3E2-2E8A-A6A768A14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F6EFE5-E1A1-703E-AC58-EFF49DD9923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52C5CBC4-35BA-00BE-00AE-2AC4A6DDB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635AC3F-F30A-A538-518F-C65D18186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02188-3BB5-AED2-E6DA-84E1022D3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212848"/>
            <a:ext cx="10607040" cy="4114800"/>
          </a:xfrm>
        </p:spPr>
        <p:txBody>
          <a:bodyPr wrap="square" anchor="t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Computer Vision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vehicle damage detection.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License Plate Recognition is used to identify vehicles.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support traffic monitoring and violation detection.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Limited systems are designed specifically for </a:t>
            </a:r>
            <a:r>
              <a:rPr lang="en-US" sz="2000" b="1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Pakistani vehicles and license plates</a:t>
            </a:r>
            <a:r>
              <a:rPr lang="en-US" sz="2000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2000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Existing solutions do not combine </a:t>
            </a:r>
            <a:r>
              <a:rPr lang="en-US" sz="2000" b="1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damage detection, plate recognition, alerts, and incident records</a:t>
            </a:r>
            <a:r>
              <a:rPr lang="en-US" sz="2000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 in one system. </a:t>
            </a:r>
          </a:p>
          <a:p>
            <a:r>
              <a:rPr lang="en-US" sz="2000" dirty="0">
                <a:latin typeface="Times New Roman" panose="02020603050405020304" pitchFamily="18" charset="0"/>
                <a:ea typeface="Nirmala UI Semilight" panose="020B0402040204020203" pitchFamily="34" charset="0"/>
                <a:cs typeface="Times New Roman" panose="02020603050405020304" pitchFamily="18" charset="0"/>
              </a:rPr>
              <a:t>Our system aims to address this gap for Pakistani road conditions.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82AA9E12-BA0B-0D2A-6B78-ECF896D0B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462528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Related Work &amp; Research Gap</a:t>
            </a:r>
            <a:r>
              <a:rPr lang="en-OM" dirty="0"/>
              <a:t/>
            </a:r>
            <a:br>
              <a:rPr lang="en-OM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29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2BA0-0A65-6CE2-7697-7074E4EC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DB31E7-F42A-02D6-A57D-99FEA678A6FE}"/>
              </a:ext>
            </a:extLst>
          </p:cNvPr>
          <p:cNvGrpSpPr/>
          <p:nvPr/>
        </p:nvGrpSpPr>
        <p:grpSpPr>
          <a:xfrm>
            <a:off x="0" y="-152400"/>
            <a:ext cx="12749348" cy="12681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C2C1B9-F5F4-A779-5996-37A330D83E0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C28582-35B1-8B4B-0418-F489F7799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57D265-E672-2A37-A839-ADF8DCAC50C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6687D404-BBE8-57A0-2EE0-DF12214FD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49EF88-E95A-583D-130B-D15704C4456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C756580C-5304-DBB9-A2D5-B97EDDC96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94EDB8-7093-D8E7-67D1-EDC8A9B3E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5" name="Title 14">
            <a:extLst>
              <a:ext uri="{FF2B5EF4-FFF2-40B4-BE49-F238E27FC236}">
                <a16:creationId xmlns:a16="http://schemas.microsoft.com/office/drawing/2014/main" id="{F561DE49-4A34-14CB-F7BC-82AE19927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00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Problem Identified</a:t>
            </a:r>
            <a:r>
              <a:rPr lang="en-OM" dirty="0"/>
              <a:t/>
            </a:r>
            <a:br>
              <a:rPr lang="en-OM" dirty="0"/>
            </a:br>
            <a:endParaRPr lang="en-US" dirty="0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548640" y="1582814"/>
            <a:ext cx="1072921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Vehicle damage is not properly monitored on Pakistani roads.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vehicle inspection is slow and difficult to manage.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Damaged vehicles may continue to operate without proper checking.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Serious vehicle damage can be missed or remain undocumented.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There is a need for an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system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automatically detect vehicle damage and identify vehicles. </a:t>
            </a:r>
          </a:p>
        </p:txBody>
      </p:sp>
    </p:spTree>
    <p:extLst>
      <p:ext uri="{BB962C8B-B14F-4D97-AF65-F5344CB8AC3E}">
        <p14:creationId xmlns:p14="http://schemas.microsoft.com/office/powerpoint/2010/main" val="42068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2BA0-0A65-6CE2-7697-7074E4EC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FEDB31E7-F42A-02D6-A57D-99FEA678A6FE}"/>
              </a:ext>
            </a:extLst>
          </p:cNvPr>
          <p:cNvGrpSpPr/>
          <p:nvPr/>
        </p:nvGrpSpPr>
        <p:grpSpPr>
          <a:xfrm>
            <a:off x="-32795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C2C1B9-F5F4-A779-5996-37A330D83E0F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7C28582-35B1-8B4B-0418-F489F7799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57D265-E672-2A37-A839-ADF8DCAC50CA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6687D404-BBE8-57A0-2EE0-DF12214FD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449EF88-E95A-583D-130B-D15704C4456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C756580C-5304-DBB9-A2D5-B97EDDC96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594EDB8-7093-D8E7-67D1-EDC8A9B3E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D800145F-83C9-DBAF-D68D-67FF4B07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31" y="1271053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Project Scope</a:t>
            </a:r>
            <a:r>
              <a:rPr lang="en-OM" dirty="0"/>
              <a:t/>
            </a:r>
            <a:br>
              <a:rPr lang="en-OM" dirty="0"/>
            </a:br>
            <a:endParaRPr lang="en-US" dirty="0"/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28916" y="1603613"/>
            <a:ext cx="817884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Detect visible vehicle damage using AI and Computer Vision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Recognize Pakistani vehicle license plates.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type and severity of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vehicle damage and incident information with date, time, and location.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alerts through a web dashboard and mobile app.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traffic officers in vehicle safety monitoring and inspection.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Cover common vehicle types such as cars, SUVs, and sedans </a:t>
            </a:r>
          </a:p>
        </p:txBody>
      </p:sp>
    </p:spTree>
    <p:extLst>
      <p:ext uri="{BB962C8B-B14F-4D97-AF65-F5344CB8AC3E}">
        <p14:creationId xmlns:p14="http://schemas.microsoft.com/office/powerpoint/2010/main" val="273457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3DB829FF-4C37-46B6-B4E2-5F205C614DC1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866F03-AB28-4076-A101-C05ED2916839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FF2093B-3FF1-45E4-8236-0C753316A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F863EB-B7C4-4845-A157-7BB371E924B3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86F0B4C8-CC62-4891-9C99-B146F4A85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8007ED-0B2B-42D8-9394-014EC0497A35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26482E21-91A3-466E-88F0-0149ECFB7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BBDC86F-ED38-4A71-B98D-BFBFB34B9A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F42FB-6F4E-0F2C-CF54-FC2D42ED9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981200"/>
            <a:ext cx="10607040" cy="4114800"/>
          </a:xfrm>
        </p:spPr>
        <p:txBody>
          <a:bodyPr wrap="square" anchor="t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smart car diagnostic system that automatically detects visible vehicle damage and identifies vehicles using Pakistani license plates.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common vehicle damage using AI and Computer Vision.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and read Pakistani license plates.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type and severity of vehicle damage.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vehicle damage with date, time, and location.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notifications to vehicle owners about detected damage.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web dashboard and mobile app for monitoring and reporting. </a:t>
            </a:r>
          </a:p>
          <a:p>
            <a:pPr marL="0" indent="0">
              <a:lnSpc>
                <a:spcPct val="105000"/>
              </a:lnSpc>
              <a:spcAft>
                <a:spcPts val="1000"/>
              </a:spcAft>
              <a:buNone/>
            </a:pP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B355863-E908-B2BA-7808-CCA136DA3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97" y="1323893"/>
            <a:ext cx="11091672" cy="731520"/>
          </a:xfrm>
        </p:spPr>
        <p:txBody>
          <a:bodyPr wrap="square" lIns="0" tIns="0" rIns="0" bIns="0" anchor="ctr">
            <a:normAutofit fontScale="90000"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Motivation: Aim &amp; Objectives</a:t>
            </a:r>
            <a:r>
              <a:rPr lang="en-OM" dirty="0"/>
              <a:t/>
            </a:r>
            <a:br>
              <a:rPr lang="en-OM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7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F5AA-CB1C-8E17-09FB-6DB4156B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388C13-6268-89C4-5BA3-B2CAEBCCF43F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B8CAD0-47C4-9441-655C-041A960BA23C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39D886-54B6-9C77-05D9-A9D354B33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31821B-1B2B-5D14-C25B-29843DDD9817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65789190-210A-1313-250C-3E26E4A80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6D1D25-E338-9C78-ABD2-9B74E94BA94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90F87086-3196-8006-F3EA-0215DB3C4F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F3B0EC5-54DF-566C-5ACB-3C3A11583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10904"/>
            <a:ext cx="10058400" cy="567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8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C6964-8224-7CBE-5ED8-22A65D576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19AC1CF-A277-59AF-97A7-57757C12AD3C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C43C02-60D2-223E-DF96-AC1A2D17D9D0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95F2FE-AAF9-6B51-2E9B-E44DE26C80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A83F0D-C3EB-00B6-ADF4-F1E0D2D9C152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02B32555-752A-C762-7040-53F4EAEDD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02DB5D-A6BC-C796-9238-EE8919524D2A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FC6BFFFB-4490-3D3C-5826-768871D85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7D70B11-ADBF-ED65-A7BE-3D3734F62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BE795A8D-562F-AB8E-B247-41E08D13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1064077"/>
            <a:ext cx="11091672" cy="731520"/>
          </a:xfrm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Implementation: Details</a:t>
            </a:r>
            <a:endParaRPr lang="en-OM" dirty="0"/>
          </a:p>
        </p:txBody>
      </p:sp>
      <p:sp>
        <p:nvSpPr>
          <p:cNvPr id="12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04393" y="1930225"/>
            <a:ext cx="9338551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Collect vehicle images and videos for system training and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Preprocess images to improve detection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 Detection: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YOLOv8 to detect visible vehicle damage.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License Plate Recognition: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OCR to read Pakistani license plates.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Damage Analysis: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the 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type and severity of detected damage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 vehicle, damage, date, time, and location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&amp; Mobile App: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Display results, alerts, and vehicle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Traffic officers review detected cases before further action. </a:t>
            </a:r>
          </a:p>
        </p:txBody>
      </p:sp>
    </p:spTree>
    <p:extLst>
      <p:ext uri="{BB962C8B-B14F-4D97-AF65-F5344CB8AC3E}">
        <p14:creationId xmlns:p14="http://schemas.microsoft.com/office/powerpoint/2010/main" val="215303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981200"/>
            <a:ext cx="102108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2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2DEB9-9F7D-0E87-6A21-990001B4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CDEC5E3-2035-9AF1-9FD6-3EA1924049C5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A5A4999-5359-1142-82BE-5D66E53EDB14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35EC91-826C-9FAE-9EBD-C867BAEDB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4706BF-7799-E19C-C299-B9F6CBDAFF5E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2867403E-4D52-C0A8-BDDC-816AB1146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24C2CC0-EB05-A3F5-007E-D8202D8795F7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A9BA45F5-BD7A-BB3D-CC88-84BA275D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D9956E-7023-703F-C6A0-4CE9909AE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D493E-9F3A-B1C8-1911-AB923FB6B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212848"/>
            <a:ext cx="10607040" cy="4114800"/>
          </a:xfrm>
        </p:spPr>
        <p:txBody>
          <a:bodyPr wrap="square" anchor="t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programming language.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Vehicle damage detection.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Image and video processing.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Pakistani license plate recognition. </a:t>
            </a:r>
          </a:p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Training and running AI models.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Coding and development.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Model training and testing.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Code management and version control.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 &amp; Mobile App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results, alerts, and records. 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E4AE307-011C-6425-98C8-F91BC42C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00"/>
            <a:ext cx="11091672" cy="731520"/>
          </a:xfrm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Tools and Technologies</a:t>
            </a:r>
            <a:endParaRPr lang="en-OM" dirty="0"/>
          </a:p>
        </p:txBody>
      </p:sp>
    </p:spTree>
    <p:extLst>
      <p:ext uri="{BB962C8B-B14F-4D97-AF65-F5344CB8AC3E}">
        <p14:creationId xmlns:p14="http://schemas.microsoft.com/office/powerpoint/2010/main" val="3889101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9AF4-FA12-9C68-8092-A5CA9ACF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8C113D1-4B19-C59A-2FC0-6B9067C5D5CC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DFD646-8389-AB96-79CD-4BF4D9AD4F5B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2BF5C3D-E302-6E31-224A-5D436417C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1A61E0-B920-CAE8-2219-F3EA0EF77478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CDF60063-1E1E-26C5-8962-D9DC7C342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31EC038-4AC1-F158-B6D9-AE78A63E6E28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4359BE50-E355-D0FA-CA79-F65714BA3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FD76513-1673-FB33-A5DB-207AEE5B9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4F590-EEBC-0FC1-FECD-5DC32D352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2212848"/>
            <a:ext cx="10607040" cy="4114800"/>
          </a:xfrm>
        </p:spPr>
        <p:txBody>
          <a:bodyPr wrap="square" anchor="t"/>
          <a:lstStyle/>
          <a:p>
            <a:r>
              <a:rPr lang="en-US" sz="2000" b="1" dirty="0" smtClean="0"/>
              <a:t>Semester </a:t>
            </a:r>
            <a:r>
              <a:rPr lang="en-US" sz="2000" b="1" dirty="0"/>
              <a:t>1:</a:t>
            </a:r>
            <a:r>
              <a:rPr lang="en-US" sz="2000" dirty="0"/>
              <a:t> Research, requirements, data collection, preprocessing, and AI model development. </a:t>
            </a:r>
          </a:p>
          <a:p>
            <a:r>
              <a:rPr lang="en-US" sz="2000" b="1" dirty="0"/>
              <a:t>Semester 2:</a:t>
            </a:r>
            <a:r>
              <a:rPr lang="en-US" sz="2000" dirty="0"/>
              <a:t> License plate recognition, system integration, web/mobile development, testing, and final documentation. </a:t>
            </a:r>
          </a:p>
          <a:p>
            <a:r>
              <a:rPr lang="en-US" sz="2000" b="1" dirty="0"/>
              <a:t>Final Deliverables:</a:t>
            </a:r>
            <a:r>
              <a:rPr lang="en-US" sz="2000" dirty="0"/>
              <a:t> Working AI damage detection model, license plate recognition module, web dashboard, mobile app, database, testing results, and final project report. 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743E59-427E-18BF-E6B0-47C65375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1371600"/>
            <a:ext cx="11091672" cy="731520"/>
          </a:xfrm>
        </p:spPr>
        <p:txBody>
          <a:bodyPr wrap="square" lIns="0" tIns="0" rIns="0" bIns="0" anchor="ctr"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OM" sz="3000" b="1" dirty="0">
                <a:solidFill>
                  <a:srgbClr val="1A1A1A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Deliverables: Project Timeline / GANTT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14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B771-16EF-0C58-91B7-F5E877EC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0824106-B14F-F141-6459-A0FD03F62F70}"/>
              </a:ext>
            </a:extLst>
          </p:cNvPr>
          <p:cNvGrpSpPr/>
          <p:nvPr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25E3DE3-1401-D4C8-8F42-6BF49A202166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FB7FF0F-D683-A52F-497F-E3283506A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3EAA86-6A1B-A6D4-05CE-62A93007B779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en-PK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1">
              <a:extLst>
                <a:ext uri="{FF2B5EF4-FFF2-40B4-BE49-F238E27FC236}">
                  <a16:creationId xmlns:a16="http://schemas.microsoft.com/office/drawing/2014/main" id="{4A793B76-014C-EDA7-61BF-495E82366D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45EFEB-DE9B-D657-5A40-6D29A399EA1F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B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en-BB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en-BB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en-BB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en-BB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en-BB" dirty="0">
                  <a:solidFill>
                    <a:schemeClr val="bg1"/>
                  </a:solidFill>
                </a:rPr>
                <a:t>k</a:t>
              </a:r>
              <a:endParaRPr lang="en-PK" dirty="0">
                <a:solidFill>
                  <a:schemeClr val="bg1"/>
                </a:solidFill>
              </a:endParaRPr>
            </a:p>
          </p:txBody>
        </p:sp>
        <p:pic>
          <p:nvPicPr>
            <p:cNvPr id="10" name="Graphic 13">
              <a:extLst>
                <a:ext uri="{FF2B5EF4-FFF2-40B4-BE49-F238E27FC236}">
                  <a16:creationId xmlns:a16="http://schemas.microsoft.com/office/drawing/2014/main" id="{C965BB6E-53F4-D87C-0BB3-E7741C484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3F2DD43-E47D-7957-DD07-D675566F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364404"/>
            <a:ext cx="100584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08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2606040"/>
            <a:ext cx="6583680" cy="100584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4400" b="1" dirty="0">
                <a:solidFill>
                  <a:srgbClr val="FFFFFF"/>
                </a:solidFill>
                <a:latin typeface="Times New Roman" panose="020B0502040204020203" pitchFamily="18" charset="0"/>
                <a:ea typeface="Times New Roman" pitchFamily="18" charset="0"/>
                <a:cs typeface="Times New Roman" pitchFamily="18" charset="0"/>
              </a:rPr>
              <a:t>Any Questions ?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960" y="3931920"/>
            <a:ext cx="6583680" cy="822960"/>
          </a:xfrm>
        </p:spPr>
        <p:txBody>
          <a:bodyPr wrap="square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FFFFFF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 txBox="1">
            <a:spLocks/>
          </p:cNvSpPr>
          <p:nvPr/>
        </p:nvSpPr>
        <p:spPr>
          <a:xfrm>
            <a:off x="8534400" y="6248400"/>
            <a:ext cx="3485144" cy="40599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1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191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comb/>
      </p:transition>
    </mc:Choice>
    <mc:Fallback xmlns="">
      <p:transition>
        <p:comb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26122</TotalTime>
  <Words>892</Words>
  <Application>Microsoft Office PowerPoint</Application>
  <PresentationFormat>Widescreen</PresentationFormat>
  <Paragraphs>163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</vt:lpstr>
      <vt:lpstr>Calibri</vt:lpstr>
      <vt:lpstr>Calibri Light</vt:lpstr>
      <vt:lpstr>Nirmala UI Semilight</vt:lpstr>
      <vt:lpstr>Times New Roman</vt:lpstr>
      <vt:lpstr>Office Theme</vt:lpstr>
      <vt:lpstr>AI-Based Smart Car Diagnostic System</vt:lpstr>
      <vt:lpstr>Context &amp; Problem </vt:lpstr>
      <vt:lpstr>Proposed System Overview </vt:lpstr>
      <vt:lpstr>PowerPoint Presentation</vt:lpstr>
      <vt:lpstr>Key Features </vt:lpstr>
      <vt:lpstr>Literature Study </vt:lpstr>
      <vt:lpstr>Related Work &amp; Research Gap </vt:lpstr>
      <vt:lpstr>Problem Identified </vt:lpstr>
      <vt:lpstr>Project Scope </vt:lpstr>
      <vt:lpstr>Motivation: Aim &amp; Objectives </vt:lpstr>
      <vt:lpstr>PowerPoint Presentation</vt:lpstr>
      <vt:lpstr>Implementation: Details</vt:lpstr>
      <vt:lpstr>PowerPoint Presentation</vt:lpstr>
      <vt:lpstr>Tools and Technologies</vt:lpstr>
      <vt:lpstr>Deliverables: Project Timeline / GANTT Chart</vt:lpstr>
      <vt:lpstr>PowerPoint Presentation</vt:lpstr>
      <vt:lpstr>Any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ANALYSIS OF ALGORITHMS</dc:title>
  <dc:creator>waqar</dc:creator>
  <cp:lastModifiedBy>Faiza Mehak</cp:lastModifiedBy>
  <cp:revision>416</cp:revision>
  <cp:lastPrinted>1601-01-01T00:00:00Z</cp:lastPrinted>
  <dcterms:created xsi:type="dcterms:W3CDTF">2000-12-31T21:35:57Z</dcterms:created>
  <dcterms:modified xsi:type="dcterms:W3CDTF">2026-09-17T13:52:20Z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</Properties>
</file>